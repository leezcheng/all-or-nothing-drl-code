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7" d="100"/>
          <a:sy n="77" d="100"/>
        </p:scale>
        <p:origin x="24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914400" y="2606040"/>
            <a:ext cx="10332720" cy="1463040"/>
          </a:xfrm>
          <a:prstGeom prst="rect">
            <a:avLst/>
          </a:prstGeom>
          <a:noFill/>
        </p:spPr>
        <p:txBody>
          <a:bodyPr wrap="square">
            <a:spAutoFit/>
          </a:bodyPr>
          <a:lstStyle/>
          <a:p>
            <a:pPr algn="ctr"/>
            <a:r>
              <a:rPr sz="3000" b="1" i="0">
                <a:solidFill>
                  <a:srgbClr val="1F2D50"/>
                </a:solidFill>
                <a:latin typeface="微软雅黑"/>
                <a:ea typeface="微软雅黑"/>
              </a:rPr>
              <a:t>基于深度强化学习的全有或全无良率
双源采购库存优化研究</a:t>
            </a:r>
          </a:p>
        </p:txBody>
      </p:sp>
      <p:sp>
        <p:nvSpPr>
          <p:cNvPr id="4" name="TextBox 3"/>
          <p:cNvSpPr txBox="1"/>
          <p:nvPr/>
        </p:nvSpPr>
        <p:spPr>
          <a:xfrm>
            <a:off x="914400" y="3977639"/>
            <a:ext cx="10332720" cy="457200"/>
          </a:xfrm>
          <a:prstGeom prst="rect">
            <a:avLst/>
          </a:prstGeom>
          <a:noFill/>
        </p:spPr>
        <p:txBody>
          <a:bodyPr wrap="none">
            <a:spAutoFit/>
          </a:bodyPr>
          <a:lstStyle/>
          <a:p>
            <a:pPr algn="ctr"/>
            <a:r>
              <a:rPr sz="1600" b="0" i="1">
                <a:solidFill>
                  <a:srgbClr val="404040"/>
                </a:solidFill>
                <a:latin typeface="微软雅黑"/>
                <a:ea typeface="微软雅黑"/>
              </a:rPr>
              <a:t>——面向季节性非平稳需求的医药、化工行业应用场景</a:t>
            </a:r>
          </a:p>
        </p:txBody>
      </p:sp>
      <p:cxnSp>
        <p:nvCxnSpPr>
          <p:cNvPr id="5" name="Connector 4"/>
          <p:cNvCxnSpPr/>
          <p:nvPr/>
        </p:nvCxnSpPr>
        <p:spPr>
          <a:xfrm>
            <a:off x="4114800" y="4617720"/>
            <a:ext cx="3959352" cy="0"/>
          </a:xfrm>
          <a:prstGeom prst="line">
            <a:avLst/>
          </a:prstGeom>
          <a:ln w="19050">
            <a:solidFill>
              <a:srgbClr val="1F2D5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64029" y="5414023"/>
            <a:ext cx="10332720" cy="784830"/>
          </a:xfrm>
          <a:prstGeom prst="rect">
            <a:avLst/>
          </a:prstGeom>
          <a:noFill/>
        </p:spPr>
        <p:txBody>
          <a:bodyPr wrap="square">
            <a:spAutoFit/>
          </a:bodyPr>
          <a:lstStyle/>
          <a:p>
            <a:pPr lvl="8"/>
            <a:r>
              <a:rPr lang="en-US" sz="1500" b="1" i="0" dirty="0">
                <a:solidFill>
                  <a:srgbClr val="404040"/>
                </a:solidFill>
                <a:latin typeface="微软雅黑"/>
                <a:ea typeface="微软雅黑"/>
              </a:rPr>
              <a:t>         </a:t>
            </a:r>
            <a:r>
              <a:rPr sz="1500" b="1" i="0" dirty="0" err="1">
                <a:solidFill>
                  <a:srgbClr val="404040"/>
                </a:solidFill>
                <a:latin typeface="微软雅黑"/>
                <a:ea typeface="微软雅黑"/>
              </a:rPr>
              <a:t>姓名：李子成</a:t>
            </a:r>
            <a:endParaRPr lang="en-US" sz="1500" b="1" i="0" dirty="0">
              <a:solidFill>
                <a:srgbClr val="404040"/>
              </a:solidFill>
              <a:latin typeface="微软雅黑"/>
              <a:ea typeface="微软雅黑"/>
            </a:endParaRPr>
          </a:p>
          <a:p>
            <a:pPr lvl="8"/>
            <a:r>
              <a:rPr lang="zh-CN" altLang="en-US" sz="1500" b="1" dirty="0">
                <a:solidFill>
                  <a:srgbClr val="404040"/>
                </a:solidFill>
                <a:latin typeface="微软雅黑"/>
                <a:ea typeface="微软雅黑"/>
              </a:rPr>
              <a:t>         学号：</a:t>
            </a:r>
            <a:r>
              <a:rPr lang="en-US" altLang="zh-CN" sz="1500" b="1" dirty="0">
                <a:solidFill>
                  <a:srgbClr val="404040"/>
                </a:solidFill>
                <a:latin typeface="微软雅黑"/>
                <a:ea typeface="微软雅黑"/>
              </a:rPr>
              <a:t>2531197</a:t>
            </a:r>
            <a:r>
              <a:rPr lang="zh-CN" altLang="en-US" sz="1500" b="1" dirty="0">
                <a:solidFill>
                  <a:srgbClr val="404040"/>
                </a:solidFill>
                <a:latin typeface="微软雅黑"/>
                <a:ea typeface="微软雅黑"/>
              </a:rPr>
              <a:t>　　</a:t>
            </a:r>
            <a:r>
              <a:rPr sz="1500" b="1" i="0" dirty="0">
                <a:solidFill>
                  <a:srgbClr val="404040"/>
                </a:solidFill>
                <a:latin typeface="微软雅黑"/>
                <a:ea typeface="微软雅黑"/>
              </a:rPr>
              <a:t>
</a:t>
            </a:r>
            <a:r>
              <a:rPr lang="en-US" sz="1500" b="1" i="0" dirty="0">
                <a:solidFill>
                  <a:srgbClr val="404040"/>
                </a:solidFill>
                <a:latin typeface="微软雅黑"/>
                <a:ea typeface="微软雅黑"/>
              </a:rPr>
              <a:t>         </a:t>
            </a:r>
            <a:r>
              <a:rPr sz="1500" b="1" i="0" dirty="0" err="1">
                <a:solidFill>
                  <a:srgbClr val="404040"/>
                </a:solidFill>
                <a:latin typeface="微软雅黑"/>
                <a:ea typeface="微软雅黑"/>
              </a:rPr>
              <a:t>专业：工业工程与管理</a:t>
            </a:r>
            <a:endParaRPr sz="1500" b="1" i="0" dirty="0">
              <a:solidFill>
                <a:srgbClr val="404040"/>
              </a:solidFill>
              <a:latin typeface="微软雅黑"/>
              <a:ea typeface="微软雅黑"/>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881360" cy="523220"/>
          </a:xfrm>
          <a:prstGeom prst="rect">
            <a:avLst/>
          </a:prstGeom>
          <a:noFill/>
        </p:spPr>
        <p:txBody>
          <a:bodyPr wrap="square">
            <a:spAutoFit/>
          </a:bodyPr>
          <a:lstStyle/>
          <a:p>
            <a:r>
              <a:rPr sz="2800" b="1" i="0" dirty="0" err="1">
                <a:solidFill>
                  <a:srgbClr val="1F2D50"/>
                </a:solidFill>
                <a:latin typeface="微软雅黑"/>
                <a:ea typeface="微软雅黑"/>
              </a:rPr>
              <a:t>一、研究背景与</a:t>
            </a:r>
            <a:r>
              <a:rPr lang="zh-CN" altLang="en-US" sz="2800" b="1" i="0" dirty="0">
                <a:solidFill>
                  <a:srgbClr val="1F2D50"/>
                </a:solidFill>
                <a:latin typeface="微软雅黑"/>
                <a:ea typeface="微软雅黑"/>
              </a:rPr>
              <a:t>课题</a:t>
            </a:r>
            <a:endParaRPr sz="2800" b="1" i="0" dirty="0">
              <a:solidFill>
                <a:srgbClr val="1F2D50"/>
              </a:solidFill>
              <a:latin typeface="微软雅黑"/>
              <a:ea typeface="微软雅黑"/>
            </a:endParaRPr>
          </a:p>
        </p:txBody>
      </p:sp>
      <p:cxnSp>
        <p:nvCxnSpPr>
          <p:cNvPr id="3" name="Connector 2"/>
          <p:cNvCxnSpPr/>
          <p:nvPr/>
        </p:nvCxnSpPr>
        <p:spPr>
          <a:xfrm>
            <a:off x="640080" y="1170432"/>
            <a:ext cx="10908792" cy="0"/>
          </a:xfrm>
          <a:prstGeom prst="line">
            <a:avLst/>
          </a:prstGeom>
          <a:ln w="19050">
            <a:solidFill>
              <a:srgbClr val="1F2D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338560" y="6473952"/>
            <a:ext cx="640080" cy="320040"/>
          </a:xfrm>
          <a:prstGeom prst="rect">
            <a:avLst/>
          </a:prstGeom>
          <a:noFill/>
        </p:spPr>
        <p:txBody>
          <a:bodyPr wrap="none">
            <a:spAutoFit/>
          </a:bodyPr>
          <a:lstStyle/>
          <a:p>
            <a:pPr algn="r"/>
            <a:r>
              <a:rPr sz="1100" b="0" i="0">
                <a:solidFill>
                  <a:srgbClr val="8A8A8A"/>
                </a:solidFill>
                <a:latin typeface="微软雅黑"/>
                <a:ea typeface="微软雅黑"/>
              </a:rPr>
              <a:t>2 / 10</a:t>
            </a:r>
          </a:p>
        </p:txBody>
      </p:sp>
      <p:sp>
        <p:nvSpPr>
          <p:cNvPr id="5" name="TextBox 4"/>
          <p:cNvSpPr txBox="1"/>
          <p:nvPr/>
        </p:nvSpPr>
        <p:spPr>
          <a:xfrm>
            <a:off x="685800" y="1417320"/>
            <a:ext cx="10789920" cy="3912610"/>
          </a:xfrm>
          <a:prstGeom prst="rect">
            <a:avLst/>
          </a:prstGeom>
          <a:noFill/>
        </p:spPr>
        <p:txBody>
          <a:bodyPr wrap="square">
            <a:spAutoFit/>
          </a:bodyPr>
          <a:lstStyle/>
          <a:p>
            <a:pPr>
              <a:lnSpc>
                <a:spcPct val="100000"/>
              </a:lnSpc>
              <a:spcAft>
                <a:spcPts val="1600"/>
              </a:spcAft>
            </a:pPr>
            <a:r>
              <a:rPr sz="1900" b="1" i="0" dirty="0">
                <a:solidFill>
                  <a:srgbClr val="1A1A1A"/>
                </a:solidFill>
                <a:latin typeface="微软雅黑"/>
                <a:ea typeface="微软雅黑"/>
              </a:rPr>
              <a:t>▪ </a:t>
            </a:r>
            <a:r>
              <a:rPr lang="zh-CN" altLang="en-US" sz="1900" b="1" i="0" dirty="0">
                <a:solidFill>
                  <a:srgbClr val="1A1A1A"/>
                </a:solidFill>
                <a:latin typeface="微软雅黑"/>
                <a:ea typeface="微软雅黑"/>
              </a:rPr>
              <a:t>研究问题</a:t>
            </a:r>
            <a:r>
              <a:rPr sz="1900" b="1" i="0" dirty="0">
                <a:solidFill>
                  <a:srgbClr val="1A1A1A"/>
                </a:solidFill>
                <a:latin typeface="微软雅黑"/>
                <a:ea typeface="微软雅黑"/>
              </a:rPr>
              <a:t>：</a:t>
            </a:r>
            <a:r>
              <a:rPr lang="zh-CN" altLang="en-US" dirty="0"/>
              <a:t>本课题所属学科方向为工业工程与管理中的生产运作与供应链优化，所要研究的科学技术问题是：在具有全有或全无（</a:t>
            </a:r>
            <a:r>
              <a:rPr lang="en-US" dirty="0"/>
              <a:t>all-or-nothing</a:t>
            </a:r>
            <a:r>
              <a:rPr lang="zh-CN" altLang="en-US" dirty="0"/>
              <a:t>）随机良率与非零提前期特征的生产</a:t>
            </a:r>
            <a:r>
              <a:rPr lang="en-US" dirty="0"/>
              <a:t>/</a:t>
            </a:r>
            <a:r>
              <a:rPr lang="zh-CN" altLang="en-US" dirty="0"/>
              <a:t>供应环节中，当企业同时面临季节性非平稳需求与双源（常规＋应急）采购渠道时，如何建立满足马尔可夫性的有限期序贯决策模型，并设计能够在高维、非凸的状态</a:t>
            </a:r>
            <a:r>
              <a:rPr lang="en-US" dirty="0"/>
              <a:t>—</a:t>
            </a:r>
            <a:r>
              <a:rPr lang="zh-CN" altLang="en-US" dirty="0"/>
              <a:t>动作空间中稳定求解该模型的深度强化学习方法，使企业的期望折扣总成本最小化；</a:t>
            </a:r>
            <a:endParaRPr sz="1900" b="1" i="0" dirty="0">
              <a:solidFill>
                <a:srgbClr val="1A1A1A"/>
              </a:solidFill>
              <a:latin typeface="微软雅黑"/>
              <a:ea typeface="微软雅黑"/>
            </a:endParaRPr>
          </a:p>
          <a:p>
            <a:pPr>
              <a:lnSpc>
                <a:spcPct val="100000"/>
              </a:lnSpc>
              <a:spcAft>
                <a:spcPts val="1600"/>
              </a:spcAft>
            </a:pPr>
            <a:r>
              <a:rPr sz="1900" b="1" i="0" dirty="0">
                <a:solidFill>
                  <a:srgbClr val="1A1A1A"/>
                </a:solidFill>
                <a:latin typeface="微软雅黑"/>
                <a:ea typeface="微软雅黑"/>
              </a:rPr>
              <a:t>▪</a:t>
            </a:r>
            <a:r>
              <a:rPr lang="zh-CN" altLang="en-US" sz="1900" b="1" dirty="0">
                <a:solidFill>
                  <a:srgbClr val="1A1A1A"/>
                </a:solidFill>
                <a:latin typeface="微软雅黑"/>
                <a:ea typeface="微软雅黑"/>
              </a:rPr>
              <a:t>研究背景：</a:t>
            </a:r>
            <a:r>
              <a:rPr lang="zh-CN" altLang="en-US" dirty="0"/>
              <a:t>现代生物制药、精细化工等生产过程普遍存在</a:t>
            </a:r>
            <a:r>
              <a:rPr lang="en-US" dirty="0"/>
              <a:t>“</a:t>
            </a:r>
            <a:r>
              <a:rPr lang="zh-CN" altLang="en-US" dirty="0"/>
              <a:t>全有或全无</a:t>
            </a:r>
            <a:r>
              <a:rPr lang="en-US" dirty="0"/>
              <a:t>”</a:t>
            </a:r>
            <a:r>
              <a:rPr lang="zh-CN" altLang="en-US" dirty="0"/>
              <a:t>式的随机良率现象：原材料或中间产品在完成质量检测前无法确知其是否合格，一旦检测不合格则整批报废，不存在部分合格的情形。与此同时，呼吸道感染、流感等疾病具有明显的季节性流行规律，导致相关药品和化学试剂的终端需求呈现均值与波动同步起伏的非平稳特征。为兼顾成本与供应可靠性，企业通常在价格较低、提前期较长但存在良率风险的常规采购渠道之外，配置一条价格较高但交付几乎即时、质量完全可靠的应急采购渠道，以应对流行季的突发性缺货风险。</a:t>
            </a:r>
            <a:endParaRPr sz="1900" b="1" i="0" dirty="0">
              <a:solidFill>
                <a:srgbClr val="1A1A1A"/>
              </a:solidFill>
              <a:latin typeface="微软雅黑"/>
              <a:ea typeface="微软雅黑"/>
            </a:endParaRPr>
          </a:p>
          <a:p>
            <a:pPr>
              <a:lnSpc>
                <a:spcPct val="125000"/>
              </a:lnSpc>
              <a:spcAft>
                <a:spcPts val="1600"/>
              </a:spcAft>
            </a:pPr>
            <a:endParaRPr sz="1900" b="1" i="0" dirty="0">
              <a:solidFill>
                <a:srgbClr val="1A1A1A"/>
              </a:solidFill>
              <a:latin typeface="微软雅黑"/>
              <a:ea typeface="微软雅黑"/>
            </a:endParaRPr>
          </a:p>
        </p:txBody>
      </p:sp>
      <p:sp>
        <p:nvSpPr>
          <p:cNvPr id="8" name="Rounded Rectangle 4">
            <a:extLst>
              <a:ext uri="{FF2B5EF4-FFF2-40B4-BE49-F238E27FC236}">
                <a16:creationId xmlns:a16="http://schemas.microsoft.com/office/drawing/2014/main" id="{311FE28C-D100-A60F-2909-F40F2066ABBF}"/>
              </a:ext>
            </a:extLst>
          </p:cNvPr>
          <p:cNvSpPr/>
          <p:nvPr/>
        </p:nvSpPr>
        <p:spPr>
          <a:xfrm>
            <a:off x="597408" y="1361945"/>
            <a:ext cx="10908792" cy="4023360"/>
          </a:xfrm>
          <a:prstGeom prst="roundRect">
            <a:avLst/>
          </a:prstGeom>
          <a:solidFill>
            <a:srgbClr val="F2F4F8"/>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marL="0" marR="0" lvl="0" indent="0" algn="l" defTabSz="457200" rtl="0" eaLnBrk="1" fontAlgn="auto" latinLnBrk="0" hangingPunct="1">
              <a:lnSpc>
                <a:spcPct val="100000"/>
              </a:lnSpc>
              <a:spcBef>
                <a:spcPts val="0"/>
              </a:spcBef>
              <a:spcAft>
                <a:spcPts val="1600"/>
              </a:spcAft>
              <a:buClrTx/>
              <a:buSzTx/>
              <a:buFontTx/>
              <a:buNone/>
              <a:tabLst/>
              <a:defRPr/>
            </a:pPr>
            <a:endParaRPr kumimoji="0" lang="en-US" altLang="zh-CN" sz="1900" b="1" i="0" u="none" strike="noStrike" kern="1200" cap="none" spc="0" normalizeH="0" baseline="0" noProof="0" dirty="0">
              <a:ln>
                <a:noFill/>
              </a:ln>
              <a:solidFill>
                <a:srgbClr val="1A1A1A"/>
              </a:solidFill>
              <a:effectLst/>
              <a:uLnTx/>
              <a:uFillTx/>
              <a:latin typeface="微软雅黑"/>
              <a:ea typeface="微软雅黑"/>
              <a:cs typeface="+mn-cs"/>
            </a:endParaRPr>
          </a:p>
          <a:p>
            <a:pPr marL="0" marR="0" lvl="0" indent="0" algn="l" defTabSz="457200" rtl="0" eaLnBrk="1" fontAlgn="auto" latinLnBrk="0" hangingPunct="1">
              <a:lnSpc>
                <a:spcPct val="100000"/>
              </a:lnSpc>
              <a:spcBef>
                <a:spcPts val="0"/>
              </a:spcBef>
              <a:spcAft>
                <a:spcPts val="1600"/>
              </a:spcAft>
              <a:buClrTx/>
              <a:buSzTx/>
              <a:buFontTx/>
              <a:buNone/>
              <a:tabLst/>
              <a:defRPr/>
            </a:pPr>
            <a:r>
              <a:rPr kumimoji="0" lang="zh-CN" altLang="en-US" sz="1900" b="1" i="0" u="none" strike="noStrike" kern="1200" cap="none" spc="0" normalizeH="0" baseline="0" noProof="0" dirty="0">
                <a:ln>
                  <a:noFill/>
                </a:ln>
                <a:solidFill>
                  <a:srgbClr val="1A1A1A"/>
                </a:solidFill>
                <a:effectLst/>
                <a:uLnTx/>
                <a:uFillTx/>
                <a:latin typeface="微软雅黑"/>
                <a:ea typeface="微软雅黑"/>
                <a:cs typeface="+mn-cs"/>
              </a:rPr>
              <a:t>▪研究背景：</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现代生物制药、精细化工等生产过程普遍存在</a:t>
            </a:r>
            <a:r>
              <a:rPr kumimoji="0" lang="zh-CN" altLang="en-US" sz="1800" b="0" i="0" u="none" strike="noStrike" kern="1200" cap="none" spc="0" normalizeH="0" baseline="0" noProof="0" dirty="0">
                <a:ln>
                  <a:noFill/>
                </a:ln>
                <a:solidFill>
                  <a:prstClr val="black"/>
                </a:solidFill>
                <a:effectLst/>
                <a:uLnTx/>
                <a:uFillTx/>
                <a:latin typeface="Calibri"/>
                <a:ea typeface="+mn-ea"/>
                <a:cs typeface="+mn-cs"/>
              </a:rPr>
              <a:t>“</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全有或全无</a:t>
            </a:r>
            <a:r>
              <a:rPr kumimoji="0" lang="zh-CN" altLang="en-US" sz="1800" b="0" i="0" u="none" strike="noStrike" kern="1200" cap="none" spc="0" normalizeH="0" baseline="0" noProof="0" dirty="0">
                <a:ln>
                  <a:noFill/>
                </a:ln>
                <a:solidFill>
                  <a:prstClr val="black"/>
                </a:solidFill>
                <a:effectLst/>
                <a:uLnTx/>
                <a:uFillTx/>
                <a:latin typeface="Calibri"/>
                <a:ea typeface="+mn-ea"/>
                <a:cs typeface="+mn-cs"/>
              </a:rPr>
              <a:t>”</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式的随机良率现象：原材料或中间产品在完成质量检测前无法确知其是否合格，一旦检测不合格则整批报废，不存在部分合格的情形。与此同时，呼吸道感染、流感等疾病具有明显的季节性流行规律，导致相关药品和化学试剂的终端需求呈现随季节需求起伏的非平稳特征。为兼顾成本与供应可靠性，企业通常在价格较低、提前期较长但存在良率风险的常规采购渠道之外，配置一条价格较高但交付即时、质量完全可靠的应急采购渠道，以应对突发性的缺货风险；</a:t>
            </a:r>
            <a:endPar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a:spcAft>
                <a:spcPts val="1600"/>
              </a:spcAft>
              <a:defRPr/>
            </a:pPr>
            <a:r>
              <a:rPr lang="zh-CN" altLang="en-US" sz="1900" b="1" dirty="0">
                <a:solidFill>
                  <a:srgbClr val="1A1A1A"/>
                </a:solidFill>
                <a:latin typeface="微软雅黑"/>
                <a:ea typeface="微软雅黑"/>
              </a:rPr>
              <a:t>▪ 研究课题：</a:t>
            </a:r>
            <a:r>
              <a:rPr lang="zh-CN" altLang="en-US" sz="2000" dirty="0">
                <a:solidFill>
                  <a:prstClr val="black"/>
                </a:solidFill>
              </a:rPr>
              <a:t>本课题所属学科方向为工业工程与管理中的生产运作与供应链优化，所要研究的科学技术问题是：在具有全有或全无（</a:t>
            </a:r>
            <a:r>
              <a:rPr lang="en-US" altLang="zh-CN" sz="2000" dirty="0">
                <a:solidFill>
                  <a:prstClr val="black"/>
                </a:solidFill>
              </a:rPr>
              <a:t>all-or-nothing</a:t>
            </a:r>
            <a:r>
              <a:rPr lang="zh-CN" altLang="en-US" sz="2000" dirty="0">
                <a:solidFill>
                  <a:prstClr val="black"/>
                </a:solidFill>
              </a:rPr>
              <a:t>）随机良率与非零提前期特征的生产供应环节中，当企业同时面临季节性非平稳需求与双源（常规＋应急）采购渠道时，如何建立满足马尔可夫性的有限期序贯决策模型，并设计能够在高维、非凸的状态</a:t>
            </a:r>
            <a:r>
              <a:rPr lang="en-US" altLang="zh-CN" sz="2000" dirty="0">
                <a:solidFill>
                  <a:prstClr val="black"/>
                </a:solidFill>
              </a:rPr>
              <a:t>—</a:t>
            </a:r>
            <a:r>
              <a:rPr lang="zh-CN" altLang="en-US" sz="2000" dirty="0">
                <a:solidFill>
                  <a:prstClr val="black"/>
                </a:solidFill>
              </a:rPr>
              <a:t>动作空间中稳定求解该模型的深度强化学习方法，使企业的期望折扣总成本最小化。</a:t>
            </a:r>
            <a:endParaRPr lang="zh-CN" altLang="en-US" sz="2400" b="1" dirty="0">
              <a:solidFill>
                <a:srgbClr val="1A1A1A"/>
              </a:solidFill>
              <a:latin typeface="微软雅黑"/>
              <a:ea typeface="微软雅黑"/>
            </a:endParaRPr>
          </a:p>
          <a:p>
            <a:pPr marL="0" marR="0" lvl="0" indent="0" algn="l" defTabSz="457200" rtl="0" eaLnBrk="1" fontAlgn="auto" latinLnBrk="0" hangingPunct="1">
              <a:lnSpc>
                <a:spcPct val="100000"/>
              </a:lnSpc>
              <a:spcBef>
                <a:spcPts val="0"/>
              </a:spcBef>
              <a:spcAft>
                <a:spcPts val="1600"/>
              </a:spcAft>
              <a:buClrTx/>
              <a:buSzTx/>
              <a:buFontTx/>
              <a:buNone/>
              <a:tabLst/>
              <a:defRPr/>
            </a:pPr>
            <a:endParaRPr kumimoji="0" lang="zh-CN" altLang="en-US" sz="1900" b="1" i="0" u="none" strike="noStrike" kern="1200" cap="none" spc="0" normalizeH="0" baseline="0" noProof="0" dirty="0">
              <a:ln>
                <a:noFill/>
              </a:ln>
              <a:solidFill>
                <a:srgbClr val="1A1A1A"/>
              </a:solidFill>
              <a:effectLst/>
              <a:uLnTx/>
              <a:uFillTx/>
              <a:latin typeface="微软雅黑"/>
              <a:ea typeface="微软雅黑"/>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881360" cy="523220"/>
          </a:xfrm>
          <a:prstGeom prst="rect">
            <a:avLst/>
          </a:prstGeom>
          <a:noFill/>
        </p:spPr>
        <p:txBody>
          <a:bodyPr wrap="square">
            <a:spAutoFit/>
          </a:bodyPr>
          <a:lstStyle/>
          <a:p>
            <a:r>
              <a:rPr sz="2800" b="1" i="0" dirty="0">
                <a:solidFill>
                  <a:srgbClr val="1F2D50"/>
                </a:solidFill>
                <a:latin typeface="微软雅黑"/>
                <a:ea typeface="微软雅黑"/>
              </a:rPr>
              <a:t>二、</a:t>
            </a:r>
            <a:r>
              <a:rPr lang="zh-CN" altLang="en-US" sz="2800" b="1" dirty="0">
                <a:solidFill>
                  <a:srgbClr val="1F2D50"/>
                </a:solidFill>
                <a:latin typeface="微软雅黑"/>
                <a:ea typeface="微软雅黑"/>
              </a:rPr>
              <a:t>课题</a:t>
            </a:r>
            <a:r>
              <a:rPr sz="2800" b="1" i="0" dirty="0" err="1">
                <a:solidFill>
                  <a:srgbClr val="1F2D50"/>
                </a:solidFill>
                <a:latin typeface="微软雅黑"/>
                <a:ea typeface="微软雅黑"/>
              </a:rPr>
              <a:t>研究现状与定位</a:t>
            </a:r>
            <a:endParaRPr sz="2800" b="1" i="0" dirty="0">
              <a:solidFill>
                <a:srgbClr val="1F2D50"/>
              </a:solidFill>
              <a:latin typeface="微软雅黑"/>
              <a:ea typeface="微软雅黑"/>
            </a:endParaRPr>
          </a:p>
        </p:txBody>
      </p:sp>
      <p:cxnSp>
        <p:nvCxnSpPr>
          <p:cNvPr id="3" name="Connector 2"/>
          <p:cNvCxnSpPr/>
          <p:nvPr/>
        </p:nvCxnSpPr>
        <p:spPr>
          <a:xfrm>
            <a:off x="640080" y="1170432"/>
            <a:ext cx="10908792" cy="0"/>
          </a:xfrm>
          <a:prstGeom prst="line">
            <a:avLst/>
          </a:prstGeom>
          <a:ln w="19050">
            <a:solidFill>
              <a:srgbClr val="1F2D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338560" y="6473952"/>
            <a:ext cx="640080" cy="320040"/>
          </a:xfrm>
          <a:prstGeom prst="rect">
            <a:avLst/>
          </a:prstGeom>
          <a:noFill/>
        </p:spPr>
        <p:txBody>
          <a:bodyPr wrap="none">
            <a:spAutoFit/>
          </a:bodyPr>
          <a:lstStyle/>
          <a:p>
            <a:pPr algn="r"/>
            <a:r>
              <a:rPr sz="1100" b="0" i="0">
                <a:solidFill>
                  <a:srgbClr val="8A8A8A"/>
                </a:solidFill>
                <a:latin typeface="微软雅黑"/>
                <a:ea typeface="微软雅黑"/>
              </a:rPr>
              <a:t>3 / 10</a:t>
            </a:r>
          </a:p>
        </p:txBody>
      </p:sp>
      <p:sp>
        <p:nvSpPr>
          <p:cNvPr id="5" name="TextBox 4"/>
          <p:cNvSpPr txBox="1"/>
          <p:nvPr/>
        </p:nvSpPr>
        <p:spPr>
          <a:xfrm>
            <a:off x="685800" y="1371600"/>
            <a:ext cx="10789920" cy="365760"/>
          </a:xfrm>
          <a:prstGeom prst="rect">
            <a:avLst/>
          </a:prstGeom>
          <a:noFill/>
        </p:spPr>
        <p:txBody>
          <a:bodyPr wrap="none">
            <a:spAutoFit/>
          </a:bodyPr>
          <a:lstStyle/>
          <a:p>
            <a:r>
              <a:rPr sz="1700" b="1" i="0" dirty="0" err="1">
                <a:solidFill>
                  <a:srgbClr val="1F2D50"/>
                </a:solidFill>
                <a:latin typeface="微软雅黑"/>
                <a:ea typeface="微软雅黑"/>
              </a:rPr>
              <a:t>一方面，随机良率库存与深度强化学习文献假设过于简化</a:t>
            </a:r>
            <a:endParaRPr sz="1700" b="1" i="0" dirty="0">
              <a:solidFill>
                <a:srgbClr val="1F2D50"/>
              </a:solidFill>
              <a:latin typeface="微软雅黑"/>
              <a:ea typeface="微软雅黑"/>
            </a:endParaRPr>
          </a:p>
        </p:txBody>
      </p:sp>
      <p:sp>
        <p:nvSpPr>
          <p:cNvPr id="6" name="TextBox 5"/>
          <p:cNvSpPr txBox="1"/>
          <p:nvPr/>
        </p:nvSpPr>
        <p:spPr>
          <a:xfrm>
            <a:off x="914400" y="1783080"/>
            <a:ext cx="10332720" cy="1477328"/>
          </a:xfrm>
          <a:prstGeom prst="rect">
            <a:avLst/>
          </a:prstGeom>
          <a:noFill/>
        </p:spPr>
        <p:txBody>
          <a:bodyPr wrap="square">
            <a:spAutoFit/>
          </a:bodyPr>
          <a:lstStyle/>
          <a:p>
            <a:pPr>
              <a:lnSpc>
                <a:spcPct val="100000"/>
              </a:lnSpc>
              <a:spcAft>
                <a:spcPts val="600"/>
              </a:spcAft>
            </a:pPr>
            <a:r>
              <a:rPr lang="en-US" dirty="0"/>
              <a:t>Huh </a:t>
            </a:r>
            <a:r>
              <a:rPr lang="zh-CN" altLang="en-US" dirty="0"/>
              <a:t>与</a:t>
            </a:r>
            <a:r>
              <a:rPr lang="en-US" dirty="0"/>
              <a:t> Nagarajan</a:t>
            </a:r>
            <a:r>
              <a:rPr lang="zh-CN" altLang="en-US" dirty="0"/>
              <a:t>（</a:t>
            </a:r>
            <a:r>
              <a:rPr lang="en-US" dirty="0"/>
              <a:t>2010</a:t>
            </a:r>
            <a:r>
              <a:rPr lang="zh-CN" altLang="en-US" dirty="0"/>
              <a:t>）的线性膨胀规则、</a:t>
            </a:r>
            <a:r>
              <a:rPr lang="en-US" dirty="0"/>
              <a:t>Chen </a:t>
            </a:r>
            <a:r>
              <a:rPr lang="zh-CN" altLang="en-US" dirty="0"/>
              <a:t>等（</a:t>
            </a:r>
            <a:r>
              <a:rPr lang="en-US" dirty="0"/>
              <a:t>2018</a:t>
            </a:r>
            <a:r>
              <a:rPr lang="zh-CN" altLang="en-US" dirty="0"/>
              <a:t>）的加权报童启发式来计算随机良率的订货量，以及</a:t>
            </a:r>
            <a:r>
              <a:rPr lang="en-US" dirty="0"/>
              <a:t> Yan </a:t>
            </a:r>
            <a:r>
              <a:rPr lang="zh-CN" altLang="en-US" dirty="0"/>
              <a:t>等（</a:t>
            </a:r>
            <a:r>
              <a:rPr lang="en-US" dirty="0"/>
              <a:t>2026</a:t>
            </a:r>
            <a:r>
              <a:rPr lang="zh-CN" altLang="en-US" dirty="0"/>
              <a:t>）将深度强化学习引入库存管理来输出订货权重，这些研究均建立在单一供应源、需求平稳的简化假设之上，其状态空间与求解方法均未考虑渠道数量增加、需求均值与波动随时间周期性起伏所带来的额外复杂性，难以直接刻画本课题所关注的“双源协同＋季节性适应”这一联合决策问题。</a:t>
            </a:r>
            <a:endParaRPr b="1" i="0" dirty="0">
              <a:solidFill>
                <a:srgbClr val="404040"/>
              </a:solidFill>
              <a:latin typeface="微软雅黑"/>
              <a:ea typeface="微软雅黑"/>
            </a:endParaRPr>
          </a:p>
        </p:txBody>
      </p:sp>
      <p:sp>
        <p:nvSpPr>
          <p:cNvPr id="7" name="TextBox 6"/>
          <p:cNvSpPr txBox="1"/>
          <p:nvPr/>
        </p:nvSpPr>
        <p:spPr>
          <a:xfrm>
            <a:off x="640080" y="3247322"/>
            <a:ext cx="5652509" cy="353943"/>
          </a:xfrm>
          <a:prstGeom prst="rect">
            <a:avLst/>
          </a:prstGeom>
          <a:noFill/>
        </p:spPr>
        <p:txBody>
          <a:bodyPr wrap="none">
            <a:spAutoFit/>
          </a:bodyPr>
          <a:lstStyle/>
          <a:p>
            <a:r>
              <a:rPr sz="1700" b="1" i="0" dirty="0" err="1">
                <a:solidFill>
                  <a:srgbClr val="1F2D50"/>
                </a:solidFill>
                <a:latin typeface="微软雅黑"/>
                <a:ea typeface="微软雅黑"/>
              </a:rPr>
              <a:t>另一方面，双源采购文献未考虑良率</a:t>
            </a:r>
            <a:r>
              <a:rPr sz="1700" b="1" i="0" dirty="0">
                <a:solidFill>
                  <a:srgbClr val="1F2D50"/>
                </a:solidFill>
                <a:latin typeface="微软雅黑"/>
                <a:ea typeface="微软雅黑"/>
              </a:rPr>
              <a:t>—</a:t>
            </a:r>
            <a:r>
              <a:rPr lang="zh-CN" altLang="en-US" sz="1700" b="1" i="0" dirty="0">
                <a:solidFill>
                  <a:srgbClr val="1F2D50"/>
                </a:solidFill>
                <a:latin typeface="微软雅黑"/>
                <a:ea typeface="微软雅黑"/>
              </a:rPr>
              <a:t>非零</a:t>
            </a:r>
            <a:r>
              <a:rPr sz="1700" b="1" i="0" dirty="0" err="1">
                <a:solidFill>
                  <a:srgbClr val="1F2D50"/>
                </a:solidFill>
                <a:latin typeface="微软雅黑"/>
                <a:ea typeface="微软雅黑"/>
              </a:rPr>
              <a:t>提前期的耦合</a:t>
            </a:r>
            <a:endParaRPr sz="1700" b="1" i="0" dirty="0">
              <a:solidFill>
                <a:srgbClr val="1F2D50"/>
              </a:solidFill>
              <a:latin typeface="微软雅黑"/>
              <a:ea typeface="微软雅黑"/>
            </a:endParaRPr>
          </a:p>
        </p:txBody>
      </p:sp>
      <p:sp>
        <p:nvSpPr>
          <p:cNvPr id="8" name="TextBox 7"/>
          <p:cNvSpPr txBox="1"/>
          <p:nvPr/>
        </p:nvSpPr>
        <p:spPr>
          <a:xfrm>
            <a:off x="928116" y="3629122"/>
            <a:ext cx="10332720" cy="923330"/>
          </a:xfrm>
          <a:prstGeom prst="rect">
            <a:avLst/>
          </a:prstGeom>
          <a:noFill/>
        </p:spPr>
        <p:txBody>
          <a:bodyPr wrap="square">
            <a:spAutoFit/>
          </a:bodyPr>
          <a:lstStyle/>
          <a:p>
            <a:pPr>
              <a:lnSpc>
                <a:spcPct val="100000"/>
              </a:lnSpc>
              <a:spcAft>
                <a:spcPts val="600"/>
              </a:spcAft>
            </a:pPr>
            <a:r>
              <a:rPr lang="en-US" dirty="0"/>
              <a:t>Wang </a:t>
            </a:r>
            <a:r>
              <a:rPr lang="zh-CN" altLang="en-US" dirty="0"/>
              <a:t>等（</a:t>
            </a:r>
            <a:r>
              <a:rPr lang="en-US" dirty="0"/>
              <a:t>2010</a:t>
            </a:r>
            <a:r>
              <a:rPr lang="zh-CN" altLang="en-US" dirty="0"/>
              <a:t>）、</a:t>
            </a:r>
            <a:r>
              <a:rPr lang="en-US" dirty="0"/>
              <a:t>Tang </a:t>
            </a:r>
            <a:r>
              <a:rPr lang="zh-CN" altLang="en-US" dirty="0"/>
              <a:t>等（</a:t>
            </a:r>
            <a:r>
              <a:rPr lang="en-US" dirty="0"/>
              <a:t>2014</a:t>
            </a:r>
            <a:r>
              <a:rPr lang="zh-CN" altLang="en-US" dirty="0"/>
              <a:t>）、以及</a:t>
            </a:r>
            <a:r>
              <a:rPr lang="en-US" dirty="0"/>
              <a:t> </a:t>
            </a:r>
            <a:r>
              <a:rPr lang="en-US" dirty="0" err="1"/>
              <a:t>Federgruen</a:t>
            </a:r>
            <a:r>
              <a:rPr lang="en-US" dirty="0"/>
              <a:t> </a:t>
            </a:r>
            <a:r>
              <a:rPr lang="zh-CN" altLang="en-US" dirty="0"/>
              <a:t>与</a:t>
            </a:r>
            <a:r>
              <a:rPr lang="en-US" dirty="0"/>
              <a:t> Yang</a:t>
            </a:r>
            <a:r>
              <a:rPr lang="zh-CN" altLang="en-US" dirty="0"/>
              <a:t>（</a:t>
            </a:r>
            <a:r>
              <a:rPr lang="en-US" dirty="0"/>
              <a:t>2011</a:t>
            </a:r>
            <a:r>
              <a:rPr lang="zh-CN" altLang="en-US" dirty="0"/>
              <a:t>）对多供应商情形下采购策略的系统刻画，这些研究虽然论证了双源采购对缓释供应风险的价值，但普遍未考虑全有或全无良率这一特定供应风险形式下、常规渠道存在非零提前期时在途订单与良率实现之间的耦合效应。</a:t>
            </a:r>
            <a:endParaRPr sz="1300" b="0" i="0" dirty="0">
              <a:solidFill>
                <a:srgbClr val="404040"/>
              </a:solidFill>
              <a:latin typeface="微软雅黑"/>
              <a:ea typeface="微软雅黑"/>
            </a:endParaRPr>
          </a:p>
        </p:txBody>
      </p:sp>
      <p:sp>
        <p:nvSpPr>
          <p:cNvPr id="9" name="Rounded Rectangle 8"/>
          <p:cNvSpPr/>
          <p:nvPr/>
        </p:nvSpPr>
        <p:spPr>
          <a:xfrm>
            <a:off x="758952" y="4971011"/>
            <a:ext cx="10789920" cy="868680"/>
          </a:xfrm>
          <a:prstGeom prst="roundRect">
            <a:avLst/>
          </a:prstGeom>
          <a:solidFill>
            <a:srgbClr val="F2F4F8"/>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zh-CN" altLang="en-US" sz="1600" b="1" dirty="0">
                <a:solidFill>
                  <a:srgbClr val="1F2D50"/>
                </a:solidFill>
                <a:latin typeface="微软雅黑"/>
                <a:ea typeface="微软雅黑"/>
              </a:rPr>
              <a:t>本课题正是针对这一尚未被充分覆盖的交叉领域而提出</a:t>
            </a:r>
            <a:r>
              <a:rPr lang="en-US" altLang="zh-CN" sz="1600" b="1" dirty="0">
                <a:solidFill>
                  <a:srgbClr val="1F2D50"/>
                </a:solidFill>
                <a:latin typeface="微软雅黑"/>
                <a:ea typeface="微软雅黑"/>
              </a:rPr>
              <a:t>——</a:t>
            </a:r>
            <a:r>
              <a:rPr lang="zh-CN" altLang="en-US" sz="1600" b="1" dirty="0">
                <a:solidFill>
                  <a:srgbClr val="1F2D50"/>
                </a:solidFill>
                <a:latin typeface="微软雅黑"/>
                <a:ea typeface="微软雅黑"/>
              </a:rPr>
              <a:t>即在全有或全无良率与非零提前期并存的基准问题类中，同时引入季节性非平稳需求与零提前期应急渠道的联合决策问题，具有明确的理论缺口与现实工程背景。</a:t>
            </a:r>
            <a:endParaRPr sz="1600" b="1" i="0" dirty="0">
              <a:solidFill>
                <a:srgbClr val="1F2D50"/>
              </a:solidFill>
              <a:latin typeface="微软雅黑"/>
              <a:ea typeface="微软雅黑"/>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881360" cy="523220"/>
          </a:xfrm>
          <a:prstGeom prst="rect">
            <a:avLst/>
          </a:prstGeom>
          <a:noFill/>
        </p:spPr>
        <p:txBody>
          <a:bodyPr wrap="square">
            <a:spAutoFit/>
          </a:bodyPr>
          <a:lstStyle/>
          <a:p>
            <a:r>
              <a:rPr sz="2800" b="1" i="0" dirty="0">
                <a:solidFill>
                  <a:srgbClr val="1F2D50"/>
                </a:solidFill>
                <a:latin typeface="微软雅黑"/>
                <a:ea typeface="微软雅黑"/>
              </a:rPr>
              <a:t>三、</a:t>
            </a:r>
            <a:r>
              <a:rPr lang="zh-CN" altLang="en-US" sz="2800" b="1" i="0" dirty="0">
                <a:solidFill>
                  <a:srgbClr val="1F2D50"/>
                </a:solidFill>
                <a:latin typeface="微软雅黑"/>
                <a:ea typeface="微软雅黑"/>
              </a:rPr>
              <a:t>核心求解工具：</a:t>
            </a:r>
            <a:r>
              <a:rPr sz="2800" b="1" i="0" dirty="0" err="1">
                <a:solidFill>
                  <a:srgbClr val="1F2D50"/>
                </a:solidFill>
                <a:latin typeface="微软雅黑"/>
                <a:ea typeface="微软雅黑"/>
              </a:rPr>
              <a:t>深度强化学习</a:t>
            </a:r>
            <a:endParaRPr sz="2800" b="1" i="0" dirty="0">
              <a:solidFill>
                <a:srgbClr val="1F2D50"/>
              </a:solidFill>
              <a:latin typeface="微软雅黑"/>
              <a:ea typeface="微软雅黑"/>
            </a:endParaRPr>
          </a:p>
        </p:txBody>
      </p:sp>
      <p:cxnSp>
        <p:nvCxnSpPr>
          <p:cNvPr id="3" name="Connector 2"/>
          <p:cNvCxnSpPr/>
          <p:nvPr/>
        </p:nvCxnSpPr>
        <p:spPr>
          <a:xfrm>
            <a:off x="640080" y="1170432"/>
            <a:ext cx="10908792" cy="0"/>
          </a:xfrm>
          <a:prstGeom prst="line">
            <a:avLst/>
          </a:prstGeom>
          <a:ln w="19050">
            <a:solidFill>
              <a:srgbClr val="1F2D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338560" y="6473952"/>
            <a:ext cx="640080" cy="320040"/>
          </a:xfrm>
          <a:prstGeom prst="rect">
            <a:avLst/>
          </a:prstGeom>
          <a:noFill/>
        </p:spPr>
        <p:txBody>
          <a:bodyPr wrap="none">
            <a:spAutoFit/>
          </a:bodyPr>
          <a:lstStyle/>
          <a:p>
            <a:pPr algn="r"/>
            <a:r>
              <a:rPr sz="1100" b="0" i="0">
                <a:solidFill>
                  <a:srgbClr val="8A8A8A"/>
                </a:solidFill>
                <a:latin typeface="微软雅黑"/>
                <a:ea typeface="微软雅黑"/>
              </a:rPr>
              <a:t>4 / 10</a:t>
            </a:r>
          </a:p>
        </p:txBody>
      </p:sp>
      <p:sp>
        <p:nvSpPr>
          <p:cNvPr id="5" name="TextBox 4"/>
          <p:cNvSpPr txBox="1"/>
          <p:nvPr/>
        </p:nvSpPr>
        <p:spPr>
          <a:xfrm>
            <a:off x="685800" y="1417320"/>
            <a:ext cx="10789920" cy="2465803"/>
          </a:xfrm>
          <a:prstGeom prst="rect">
            <a:avLst/>
          </a:prstGeom>
          <a:noFill/>
        </p:spPr>
        <p:txBody>
          <a:bodyPr wrap="square">
            <a:spAutoFit/>
          </a:bodyPr>
          <a:lstStyle/>
          <a:p>
            <a:pPr>
              <a:lnSpc>
                <a:spcPct val="125000"/>
              </a:lnSpc>
              <a:spcAft>
                <a:spcPts val="2000"/>
              </a:spcAft>
            </a:pPr>
            <a:r>
              <a:rPr sz="1400" i="0" dirty="0">
                <a:solidFill>
                  <a:srgbClr val="1A1A1A"/>
                </a:solidFill>
                <a:latin typeface="微软雅黑"/>
                <a:ea typeface="微软雅黑"/>
              </a:rPr>
              <a:t>▪ </a:t>
            </a:r>
            <a:r>
              <a:rPr lang="zh-CN" altLang="en-US" sz="1400" dirty="0">
                <a:solidFill>
                  <a:srgbClr val="1A1A1A"/>
                </a:solidFill>
                <a:latin typeface="微软雅黑"/>
                <a:ea typeface="微软雅黑"/>
              </a:rPr>
              <a:t>本课题所研究的联合决策问题，其状态需刻画常规渠道在途订单的良率实现路径、应急渠道的触发状态与非平稳需求的周期相位，维度随提前期与采购渠道数量的增加呈指数级增长，构成典型的高维状态空间；</a:t>
            </a:r>
            <a:endParaRPr lang="en-US" altLang="zh-CN" sz="1400" dirty="0">
              <a:solidFill>
                <a:srgbClr val="1A1A1A"/>
              </a:solidFill>
              <a:latin typeface="微软雅黑"/>
              <a:ea typeface="微软雅黑"/>
            </a:endParaRPr>
          </a:p>
          <a:p>
            <a:pPr>
              <a:lnSpc>
                <a:spcPct val="125000"/>
              </a:lnSpc>
              <a:spcAft>
                <a:spcPts val="2000"/>
              </a:spcAft>
            </a:pPr>
            <a:r>
              <a:rPr sz="1400" i="0" dirty="0">
                <a:solidFill>
                  <a:srgbClr val="1A1A1A"/>
                </a:solidFill>
                <a:latin typeface="微软雅黑"/>
                <a:ea typeface="微软雅黑"/>
              </a:rPr>
              <a:t>▪ </a:t>
            </a:r>
            <a:r>
              <a:rPr lang="zh-CN" altLang="en-US" sz="1400" dirty="0">
                <a:solidFill>
                  <a:srgbClr val="1A1A1A"/>
                </a:solidFill>
                <a:latin typeface="微软雅黑"/>
                <a:ea typeface="微软雅黑"/>
              </a:rPr>
              <a:t>动态规划方法的可解性通常依赖于成本函数关于决策变量的凸性、以及需求分布随时间平稳这一前提；而本课题中良率的随机性破坏了成本函数的凸性结构，季节性非平稳需求又使最优策略本身成为随时间变化的函数，二者共同导致传统动态规划所依赖的最优性条件与平稳策略假设难以成立；</a:t>
            </a:r>
            <a:endParaRPr sz="1400" i="0" dirty="0">
              <a:solidFill>
                <a:srgbClr val="1A1A1A"/>
              </a:solidFill>
              <a:latin typeface="微软雅黑"/>
              <a:ea typeface="微软雅黑"/>
            </a:endParaRPr>
          </a:p>
          <a:p>
            <a:pPr>
              <a:lnSpc>
                <a:spcPct val="125000"/>
              </a:lnSpc>
              <a:spcAft>
                <a:spcPts val="2000"/>
              </a:spcAft>
            </a:pPr>
            <a:r>
              <a:rPr sz="1400" dirty="0">
                <a:solidFill>
                  <a:srgbClr val="1A1A1A"/>
                </a:solidFill>
                <a:latin typeface="微软雅黑"/>
                <a:ea typeface="微软雅黑"/>
              </a:rPr>
              <a:t>▪ </a:t>
            </a:r>
            <a:r>
              <a:rPr lang="zh-CN" altLang="en-US" sz="1400" dirty="0">
                <a:solidFill>
                  <a:srgbClr val="1A1A1A"/>
                </a:solidFill>
                <a:latin typeface="微软雅黑"/>
                <a:ea typeface="微软雅黑"/>
              </a:rPr>
              <a:t>在此背景下，传统运筹学启发式方法，其有效性往往局限于局部平稳或低维的问题设定，难以对高维、非凸、非平稳的联合决策问题提供稳定可靠的求解。</a:t>
            </a:r>
            <a:endParaRPr sz="1400" dirty="0">
              <a:solidFill>
                <a:srgbClr val="1A1A1A"/>
              </a:solidFill>
              <a:latin typeface="微软雅黑"/>
              <a:ea typeface="微软雅黑"/>
            </a:endParaRPr>
          </a:p>
        </p:txBody>
      </p:sp>
      <p:sp>
        <p:nvSpPr>
          <p:cNvPr id="6" name="Rounded Rectangle 5"/>
          <p:cNvSpPr/>
          <p:nvPr/>
        </p:nvSpPr>
        <p:spPr>
          <a:xfrm>
            <a:off x="685800" y="4206240"/>
            <a:ext cx="10789920" cy="1463040"/>
          </a:xfrm>
          <a:prstGeom prst="roundRect">
            <a:avLst/>
          </a:prstGeom>
          <a:solidFill>
            <a:srgbClr val="F2F4F8"/>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zh-CN" altLang="en-US" b="1" dirty="0">
                <a:solidFill>
                  <a:srgbClr val="1F2D50"/>
                </a:solidFill>
                <a:latin typeface="微软雅黑"/>
                <a:ea typeface="微软雅黑"/>
              </a:rPr>
              <a:t>本课题选择深度强化学习作为核心求解工具：通过策略网络与仿真环境的持续交互，以数据驱动的方式端到端地学习状态到动作的映射关系，从而在高维、非平稳的环境中学习稳健的决策策略。</a:t>
            </a:r>
            <a:endParaRPr sz="1800" b="1" i="0" dirty="0">
              <a:solidFill>
                <a:srgbClr val="1F2D50"/>
              </a:solidFill>
              <a:latin typeface="微软雅黑"/>
              <a:ea typeface="微软雅黑"/>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881360" cy="822960"/>
          </a:xfrm>
          <a:prstGeom prst="rect">
            <a:avLst/>
          </a:prstGeom>
          <a:noFill/>
        </p:spPr>
        <p:txBody>
          <a:bodyPr wrap="square">
            <a:spAutoFit/>
          </a:bodyPr>
          <a:lstStyle/>
          <a:p>
            <a:r>
              <a:rPr sz="2800" b="1" i="0">
                <a:solidFill>
                  <a:srgbClr val="1F2D50"/>
                </a:solidFill>
                <a:latin typeface="微软雅黑"/>
                <a:ea typeface="微软雅黑"/>
              </a:rPr>
              <a:t>四、研究目标与创新点</a:t>
            </a:r>
          </a:p>
        </p:txBody>
      </p:sp>
      <p:cxnSp>
        <p:nvCxnSpPr>
          <p:cNvPr id="3" name="Connector 2"/>
          <p:cNvCxnSpPr/>
          <p:nvPr/>
        </p:nvCxnSpPr>
        <p:spPr>
          <a:xfrm>
            <a:off x="640080" y="1170432"/>
            <a:ext cx="10908792" cy="0"/>
          </a:xfrm>
          <a:prstGeom prst="line">
            <a:avLst/>
          </a:prstGeom>
          <a:ln w="19050">
            <a:solidFill>
              <a:srgbClr val="1F2D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338560" y="6473952"/>
            <a:ext cx="640080" cy="320040"/>
          </a:xfrm>
          <a:prstGeom prst="rect">
            <a:avLst/>
          </a:prstGeom>
          <a:noFill/>
        </p:spPr>
        <p:txBody>
          <a:bodyPr wrap="none">
            <a:spAutoFit/>
          </a:bodyPr>
          <a:lstStyle/>
          <a:p>
            <a:pPr algn="r"/>
            <a:r>
              <a:rPr sz="1100" b="0" i="0">
                <a:solidFill>
                  <a:srgbClr val="8A8A8A"/>
                </a:solidFill>
                <a:latin typeface="微软雅黑"/>
                <a:ea typeface="微软雅黑"/>
              </a:rPr>
              <a:t>5 / 10</a:t>
            </a:r>
          </a:p>
        </p:txBody>
      </p:sp>
      <p:sp>
        <p:nvSpPr>
          <p:cNvPr id="5" name="TextBox 4"/>
          <p:cNvSpPr txBox="1"/>
          <p:nvPr/>
        </p:nvSpPr>
        <p:spPr>
          <a:xfrm>
            <a:off x="685800" y="1371600"/>
            <a:ext cx="5303520" cy="365760"/>
          </a:xfrm>
          <a:prstGeom prst="rect">
            <a:avLst/>
          </a:prstGeom>
          <a:noFill/>
        </p:spPr>
        <p:txBody>
          <a:bodyPr wrap="none">
            <a:spAutoFit/>
          </a:bodyPr>
          <a:lstStyle/>
          <a:p>
            <a:r>
              <a:rPr sz="1900" b="1" i="0">
                <a:solidFill>
                  <a:srgbClr val="1F2D50"/>
                </a:solidFill>
                <a:latin typeface="微软雅黑"/>
                <a:ea typeface="微软雅黑"/>
              </a:rPr>
              <a:t>研究目标</a:t>
            </a:r>
          </a:p>
        </p:txBody>
      </p:sp>
      <p:sp>
        <p:nvSpPr>
          <p:cNvPr id="6" name="TextBox 5"/>
          <p:cNvSpPr txBox="1"/>
          <p:nvPr/>
        </p:nvSpPr>
        <p:spPr>
          <a:xfrm>
            <a:off x="685800" y="1783080"/>
            <a:ext cx="5303520" cy="1765163"/>
          </a:xfrm>
          <a:prstGeom prst="rect">
            <a:avLst/>
          </a:prstGeom>
          <a:noFill/>
        </p:spPr>
        <p:txBody>
          <a:bodyPr wrap="square">
            <a:spAutoFit/>
          </a:bodyPr>
          <a:lstStyle/>
          <a:p>
            <a:pPr>
              <a:lnSpc>
                <a:spcPct val="125000"/>
              </a:lnSpc>
              <a:spcAft>
                <a:spcPts val="1000"/>
              </a:spcAft>
            </a:pPr>
            <a:r>
              <a:rPr sz="1500" b="1" i="0" dirty="0">
                <a:solidFill>
                  <a:srgbClr val="1A1A1A"/>
                </a:solidFill>
                <a:latin typeface="微软雅黑"/>
                <a:ea typeface="微软雅黑"/>
              </a:rPr>
              <a:t>▪ </a:t>
            </a:r>
            <a:r>
              <a:rPr sz="1500" b="1" i="0" dirty="0" err="1">
                <a:solidFill>
                  <a:srgbClr val="1A1A1A"/>
                </a:solidFill>
                <a:latin typeface="微软雅黑"/>
                <a:ea typeface="微软雅黑"/>
              </a:rPr>
              <a:t>建立季节性非平稳需求与双源采购下的有限期马尔可夫决策过程模型</a:t>
            </a:r>
            <a:r>
              <a:rPr sz="1500" b="1" i="0" dirty="0">
                <a:solidFill>
                  <a:srgbClr val="1A1A1A"/>
                </a:solidFill>
                <a:latin typeface="微软雅黑"/>
                <a:ea typeface="微软雅黑"/>
              </a:rPr>
              <a:t>；</a:t>
            </a:r>
          </a:p>
          <a:p>
            <a:pPr>
              <a:lnSpc>
                <a:spcPct val="125000"/>
              </a:lnSpc>
              <a:spcAft>
                <a:spcPts val="1000"/>
              </a:spcAft>
            </a:pPr>
            <a:r>
              <a:rPr sz="1500" b="1" i="0" dirty="0">
                <a:solidFill>
                  <a:srgbClr val="1A1A1A"/>
                </a:solidFill>
                <a:latin typeface="微软雅黑"/>
                <a:ea typeface="微软雅黑"/>
              </a:rPr>
              <a:t>▪ </a:t>
            </a:r>
            <a:r>
              <a:rPr sz="1500" b="1" i="0" dirty="0" err="1">
                <a:solidFill>
                  <a:srgbClr val="1A1A1A"/>
                </a:solidFill>
                <a:latin typeface="微软雅黑"/>
                <a:ea typeface="微软雅黑"/>
              </a:rPr>
              <a:t>设计融合启发式先验的双渠道深度强化学习求解架构与训练算法</a:t>
            </a:r>
            <a:r>
              <a:rPr sz="1500" b="1" i="0" dirty="0">
                <a:solidFill>
                  <a:srgbClr val="1A1A1A"/>
                </a:solidFill>
                <a:latin typeface="微软雅黑"/>
                <a:ea typeface="微软雅黑"/>
              </a:rPr>
              <a:t>；</a:t>
            </a:r>
          </a:p>
          <a:p>
            <a:pPr>
              <a:lnSpc>
                <a:spcPct val="125000"/>
              </a:lnSpc>
              <a:spcAft>
                <a:spcPts val="1000"/>
              </a:spcAft>
            </a:pPr>
            <a:r>
              <a:rPr sz="1500" b="1" i="0" dirty="0">
                <a:solidFill>
                  <a:srgbClr val="1A1A1A"/>
                </a:solidFill>
                <a:latin typeface="微软雅黑"/>
                <a:ea typeface="微软雅黑"/>
              </a:rPr>
              <a:t>▪ </a:t>
            </a:r>
            <a:r>
              <a:rPr sz="1500" b="1" i="0" dirty="0" err="1">
                <a:solidFill>
                  <a:srgbClr val="1A1A1A"/>
                </a:solidFill>
                <a:latin typeface="微软雅黑"/>
                <a:ea typeface="微软雅黑"/>
              </a:rPr>
              <a:t>通过全网格数值实验与消融实验评估方法优势及作用机理</a:t>
            </a:r>
            <a:r>
              <a:rPr sz="1500" b="1" i="0" dirty="0">
                <a:solidFill>
                  <a:srgbClr val="1A1A1A"/>
                </a:solidFill>
                <a:latin typeface="微软雅黑"/>
                <a:ea typeface="微软雅黑"/>
              </a:rPr>
              <a:t>。</a:t>
            </a:r>
          </a:p>
        </p:txBody>
      </p:sp>
      <p:sp>
        <p:nvSpPr>
          <p:cNvPr id="7" name="TextBox 6"/>
          <p:cNvSpPr txBox="1"/>
          <p:nvPr/>
        </p:nvSpPr>
        <p:spPr>
          <a:xfrm>
            <a:off x="6263640" y="1371600"/>
            <a:ext cx="5303520" cy="365760"/>
          </a:xfrm>
          <a:prstGeom prst="rect">
            <a:avLst/>
          </a:prstGeom>
          <a:noFill/>
        </p:spPr>
        <p:txBody>
          <a:bodyPr wrap="none">
            <a:spAutoFit/>
          </a:bodyPr>
          <a:lstStyle/>
          <a:p>
            <a:r>
              <a:rPr sz="1900" b="1" i="0">
                <a:solidFill>
                  <a:srgbClr val="1F2D50"/>
                </a:solidFill>
                <a:latin typeface="微软雅黑"/>
                <a:ea typeface="微软雅黑"/>
              </a:rPr>
              <a:t>创新点</a:t>
            </a:r>
          </a:p>
        </p:txBody>
      </p:sp>
      <p:sp>
        <p:nvSpPr>
          <p:cNvPr id="8" name="TextBox 7"/>
          <p:cNvSpPr txBox="1"/>
          <p:nvPr/>
        </p:nvSpPr>
        <p:spPr>
          <a:xfrm>
            <a:off x="6263640" y="1783080"/>
            <a:ext cx="5303520" cy="2053704"/>
          </a:xfrm>
          <a:prstGeom prst="rect">
            <a:avLst/>
          </a:prstGeom>
          <a:noFill/>
        </p:spPr>
        <p:txBody>
          <a:bodyPr wrap="square">
            <a:spAutoFit/>
          </a:bodyPr>
          <a:lstStyle/>
          <a:p>
            <a:pPr>
              <a:lnSpc>
                <a:spcPct val="125000"/>
              </a:lnSpc>
              <a:spcAft>
                <a:spcPts val="1000"/>
              </a:spcAft>
            </a:pPr>
            <a:r>
              <a:rPr sz="1500" b="1" i="0" dirty="0">
                <a:solidFill>
                  <a:srgbClr val="1A1A1A"/>
                </a:solidFill>
                <a:latin typeface="微软雅黑"/>
                <a:ea typeface="微软雅黑"/>
              </a:rPr>
              <a:t>▪ </a:t>
            </a:r>
            <a:r>
              <a:rPr sz="1500" b="1" i="0" dirty="0" err="1">
                <a:solidFill>
                  <a:srgbClr val="1A1A1A"/>
                </a:solidFill>
                <a:latin typeface="微软雅黑"/>
                <a:ea typeface="微软雅黑"/>
              </a:rPr>
              <a:t>首次将双源采购与季节性非平稳需求同时纳入全有或全无良率库存的统一建模框架</a:t>
            </a:r>
            <a:r>
              <a:rPr sz="1500" b="1" i="0" dirty="0">
                <a:solidFill>
                  <a:srgbClr val="1A1A1A"/>
                </a:solidFill>
                <a:latin typeface="微软雅黑"/>
                <a:ea typeface="微软雅黑"/>
              </a:rPr>
              <a:t>；</a:t>
            </a:r>
          </a:p>
          <a:p>
            <a:pPr>
              <a:lnSpc>
                <a:spcPct val="125000"/>
              </a:lnSpc>
              <a:spcAft>
                <a:spcPts val="1000"/>
              </a:spcAft>
            </a:pPr>
            <a:r>
              <a:rPr sz="1500" b="1" i="0" dirty="0">
                <a:solidFill>
                  <a:srgbClr val="1A1A1A"/>
                </a:solidFill>
                <a:latin typeface="微软雅黑"/>
                <a:ea typeface="微软雅黑"/>
              </a:rPr>
              <a:t>▪ </a:t>
            </a:r>
            <a:r>
              <a:rPr sz="1500" b="1" i="0" dirty="0" err="1">
                <a:solidFill>
                  <a:srgbClr val="1A1A1A"/>
                </a:solidFill>
                <a:latin typeface="微软雅黑"/>
                <a:ea typeface="微软雅黑"/>
              </a:rPr>
              <a:t>提出兼顾信息完备性与可学习性的时间感知状态设计，并证明其</a:t>
            </a:r>
            <a:r>
              <a:rPr lang="zh-CN" altLang="en-US" sz="1500" b="1" i="0" dirty="0">
                <a:solidFill>
                  <a:srgbClr val="1A1A1A"/>
                </a:solidFill>
                <a:latin typeface="微软雅黑"/>
                <a:ea typeface="微软雅黑"/>
              </a:rPr>
              <a:t>满足</a:t>
            </a:r>
            <a:r>
              <a:rPr sz="1500" b="1" i="0" dirty="0" err="1">
                <a:solidFill>
                  <a:srgbClr val="1A1A1A"/>
                </a:solidFill>
                <a:latin typeface="微软雅黑"/>
                <a:ea typeface="微软雅黑"/>
              </a:rPr>
              <a:t>马尔可夫性</a:t>
            </a:r>
            <a:r>
              <a:rPr sz="1500" b="1" i="0" dirty="0">
                <a:solidFill>
                  <a:srgbClr val="1A1A1A"/>
                </a:solidFill>
                <a:latin typeface="微软雅黑"/>
                <a:ea typeface="微软雅黑"/>
              </a:rPr>
              <a:t>；</a:t>
            </a:r>
          </a:p>
          <a:p>
            <a:pPr>
              <a:lnSpc>
                <a:spcPct val="125000"/>
              </a:lnSpc>
              <a:spcAft>
                <a:spcPts val="1000"/>
              </a:spcAft>
            </a:pPr>
            <a:r>
              <a:rPr sz="1500" b="1" i="0" dirty="0">
                <a:solidFill>
                  <a:srgbClr val="1A1A1A"/>
                </a:solidFill>
                <a:latin typeface="微软雅黑"/>
                <a:ea typeface="微软雅黑"/>
              </a:rPr>
              <a:t>▪ </a:t>
            </a:r>
            <a:r>
              <a:rPr lang="zh-CN" altLang="en-US" sz="1500" b="1" dirty="0">
                <a:solidFill>
                  <a:srgbClr val="1A1A1A"/>
                </a:solidFill>
                <a:latin typeface="微软雅黑"/>
                <a:ea typeface="微软雅黑"/>
              </a:rPr>
              <a:t>提出融合双重启发式先验的单智能体双输出深度强化学习架构，将双源订货决策纳入统一的网络结构中协同训练与优化。</a:t>
            </a:r>
            <a:endParaRPr sz="1500" b="1" i="0" dirty="0">
              <a:solidFill>
                <a:srgbClr val="1A1A1A"/>
              </a:solidFill>
              <a:latin typeface="微软雅黑"/>
              <a:ea typeface="微软雅黑"/>
            </a:endParaRPr>
          </a:p>
        </p:txBody>
      </p:sp>
      <p:cxnSp>
        <p:nvCxnSpPr>
          <p:cNvPr id="9" name="Connector 8"/>
          <p:cNvCxnSpPr/>
          <p:nvPr/>
        </p:nvCxnSpPr>
        <p:spPr>
          <a:xfrm>
            <a:off x="5943600" y="1463040"/>
            <a:ext cx="0" cy="3657600"/>
          </a:xfrm>
          <a:prstGeom prst="line">
            <a:avLst/>
          </a:prstGeom>
          <a:ln w="9525">
            <a:solidFill>
              <a:srgbClr val="8A8A8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881360" cy="822960"/>
          </a:xfrm>
          <a:prstGeom prst="rect">
            <a:avLst/>
          </a:prstGeom>
          <a:noFill/>
        </p:spPr>
        <p:txBody>
          <a:bodyPr wrap="square">
            <a:spAutoFit/>
          </a:bodyPr>
          <a:lstStyle/>
          <a:p>
            <a:r>
              <a:rPr sz="2800" b="1" i="0">
                <a:solidFill>
                  <a:srgbClr val="1F2D50"/>
                </a:solidFill>
                <a:latin typeface="微软雅黑"/>
                <a:ea typeface="微软雅黑"/>
              </a:rPr>
              <a:t>五、研究内容</a:t>
            </a:r>
          </a:p>
        </p:txBody>
      </p:sp>
      <p:cxnSp>
        <p:nvCxnSpPr>
          <p:cNvPr id="3" name="Connector 2"/>
          <p:cNvCxnSpPr/>
          <p:nvPr/>
        </p:nvCxnSpPr>
        <p:spPr>
          <a:xfrm>
            <a:off x="640080" y="1170432"/>
            <a:ext cx="10908792" cy="0"/>
          </a:xfrm>
          <a:prstGeom prst="line">
            <a:avLst/>
          </a:prstGeom>
          <a:ln w="19050">
            <a:solidFill>
              <a:srgbClr val="1F2D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338560" y="6473952"/>
            <a:ext cx="640080" cy="320040"/>
          </a:xfrm>
          <a:prstGeom prst="rect">
            <a:avLst/>
          </a:prstGeom>
          <a:noFill/>
        </p:spPr>
        <p:txBody>
          <a:bodyPr wrap="none">
            <a:spAutoFit/>
          </a:bodyPr>
          <a:lstStyle/>
          <a:p>
            <a:pPr algn="r"/>
            <a:r>
              <a:rPr sz="1100" b="0" i="0">
                <a:solidFill>
                  <a:srgbClr val="8A8A8A"/>
                </a:solidFill>
                <a:latin typeface="微软雅黑"/>
                <a:ea typeface="微软雅黑"/>
              </a:rPr>
              <a:t>6 / 10</a:t>
            </a:r>
          </a:p>
        </p:txBody>
      </p:sp>
      <p:sp>
        <p:nvSpPr>
          <p:cNvPr id="5" name="Rounded Rectangle 4"/>
          <p:cNvSpPr/>
          <p:nvPr/>
        </p:nvSpPr>
        <p:spPr>
          <a:xfrm>
            <a:off x="685800" y="1554480"/>
            <a:ext cx="3383280" cy="1828800"/>
          </a:xfrm>
          <a:prstGeom prst="roundRect">
            <a:avLst/>
          </a:prstGeom>
          <a:solidFill>
            <a:srgbClr val="F2F4F8"/>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i="0">
                <a:solidFill>
                  <a:srgbClr val="1F2D50"/>
                </a:solidFill>
                <a:latin typeface="微软雅黑"/>
                <a:ea typeface="微软雅黑"/>
              </a:rPr>
              <a:t>(1) 扩展马尔可夫决策过程建模
时间感知状态空间＋双渠道动作空间
证明马尔可夫性</a:t>
            </a:r>
          </a:p>
        </p:txBody>
      </p:sp>
      <p:sp>
        <p:nvSpPr>
          <p:cNvPr id="6" name="Rounded Rectangle 5"/>
          <p:cNvSpPr/>
          <p:nvPr/>
        </p:nvSpPr>
        <p:spPr>
          <a:xfrm>
            <a:off x="4343400" y="1554480"/>
            <a:ext cx="3383280" cy="1828800"/>
          </a:xfrm>
          <a:prstGeom prst="roundRect">
            <a:avLst/>
          </a:prstGeom>
          <a:solidFill>
            <a:srgbClr val="F2F4F8"/>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i="0" dirty="0">
                <a:solidFill>
                  <a:srgbClr val="1F2D50"/>
                </a:solidFill>
                <a:latin typeface="微软雅黑"/>
                <a:ea typeface="微软雅黑"/>
              </a:rPr>
              <a:t>(2) </a:t>
            </a:r>
            <a:r>
              <a:rPr sz="1400" b="1" i="0" dirty="0" err="1">
                <a:solidFill>
                  <a:srgbClr val="1F2D50"/>
                </a:solidFill>
                <a:latin typeface="微软雅黑"/>
                <a:ea typeface="微软雅黑"/>
              </a:rPr>
              <a:t>启发式基准与深度强化学习</a:t>
            </a:r>
            <a:r>
              <a:rPr sz="1400" b="1" i="0" dirty="0">
                <a:solidFill>
                  <a:srgbClr val="1F2D50"/>
                </a:solidFill>
                <a:latin typeface="微软雅黑"/>
                <a:ea typeface="微软雅黑"/>
              </a:rPr>
              <a:t>
</a:t>
            </a:r>
            <a:r>
              <a:rPr sz="1400" b="1" i="0" dirty="0" err="1">
                <a:solidFill>
                  <a:srgbClr val="1F2D50"/>
                </a:solidFill>
                <a:latin typeface="微软雅黑"/>
                <a:ea typeface="微软雅黑"/>
              </a:rPr>
              <a:t>求解架构设计</a:t>
            </a:r>
            <a:r>
              <a:rPr sz="1400" b="1" i="0" dirty="0">
                <a:solidFill>
                  <a:srgbClr val="1F2D50"/>
                </a:solidFill>
                <a:latin typeface="微软雅黑"/>
                <a:ea typeface="微软雅黑"/>
              </a:rPr>
              <a:t>
</a:t>
            </a:r>
            <a:r>
              <a:rPr lang="zh-CN" altLang="en-US" sz="1400" b="1" i="0" dirty="0">
                <a:solidFill>
                  <a:srgbClr val="1F2D50"/>
                </a:solidFill>
                <a:latin typeface="微软雅黑"/>
                <a:ea typeface="微软雅黑"/>
              </a:rPr>
              <a:t>以</a:t>
            </a:r>
            <a:r>
              <a:rPr sz="1400" b="1" i="0" dirty="0">
                <a:solidFill>
                  <a:srgbClr val="1F2D50"/>
                </a:solidFill>
                <a:latin typeface="微软雅黑"/>
                <a:ea typeface="微软雅黑"/>
              </a:rPr>
              <a:t>LIR／WNH／NV／HEUR</a:t>
            </a:r>
            <a:r>
              <a:rPr lang="zh-CN" altLang="en-US" sz="1400" b="1" i="0" dirty="0">
                <a:solidFill>
                  <a:srgbClr val="1F2D50"/>
                </a:solidFill>
                <a:latin typeface="微软雅黑"/>
                <a:ea typeface="微软雅黑"/>
              </a:rPr>
              <a:t>为</a:t>
            </a:r>
            <a:r>
              <a:rPr sz="1400" b="1" i="0" dirty="0" err="1">
                <a:solidFill>
                  <a:srgbClr val="1F2D50"/>
                </a:solidFill>
                <a:latin typeface="微软雅黑"/>
                <a:ea typeface="微软雅黑"/>
              </a:rPr>
              <a:t>基准</a:t>
            </a:r>
            <a:r>
              <a:rPr sz="1400" b="1" i="0" dirty="0">
                <a:solidFill>
                  <a:srgbClr val="1F2D50"/>
                </a:solidFill>
                <a:latin typeface="微软雅黑"/>
                <a:ea typeface="微软雅黑"/>
              </a:rPr>
              <a:t>
</a:t>
            </a:r>
            <a:r>
              <a:rPr sz="1400" b="1" i="0" dirty="0" err="1">
                <a:solidFill>
                  <a:srgbClr val="1F2D50"/>
                </a:solidFill>
                <a:latin typeface="微软雅黑"/>
                <a:ea typeface="微软雅黑"/>
              </a:rPr>
              <a:t>单智能体双输出教师锚定架构</a:t>
            </a:r>
            <a:endParaRPr sz="1400" b="1" i="0" dirty="0">
              <a:solidFill>
                <a:srgbClr val="1F2D50"/>
              </a:solidFill>
              <a:latin typeface="微软雅黑"/>
              <a:ea typeface="微软雅黑"/>
            </a:endParaRPr>
          </a:p>
        </p:txBody>
      </p:sp>
      <p:sp>
        <p:nvSpPr>
          <p:cNvPr id="7" name="Rounded Rectangle 6"/>
          <p:cNvSpPr/>
          <p:nvPr/>
        </p:nvSpPr>
        <p:spPr>
          <a:xfrm>
            <a:off x="8001000" y="1554480"/>
            <a:ext cx="3383280" cy="1828800"/>
          </a:xfrm>
          <a:prstGeom prst="roundRect">
            <a:avLst/>
          </a:prstGeom>
          <a:solidFill>
            <a:srgbClr val="F2F4F8"/>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i="0" dirty="0">
                <a:solidFill>
                  <a:srgbClr val="1F2D50"/>
                </a:solidFill>
                <a:latin typeface="微软雅黑"/>
                <a:ea typeface="微软雅黑"/>
              </a:rPr>
              <a:t>(3) </a:t>
            </a:r>
            <a:r>
              <a:rPr sz="1400" b="1" i="0" dirty="0" err="1">
                <a:solidFill>
                  <a:srgbClr val="1F2D50"/>
                </a:solidFill>
                <a:latin typeface="微软雅黑"/>
                <a:ea typeface="微软雅黑"/>
              </a:rPr>
              <a:t>数值实验与机理分析</a:t>
            </a:r>
            <a:r>
              <a:rPr sz="1400" b="1" i="0" dirty="0">
                <a:solidFill>
                  <a:srgbClr val="1F2D50"/>
                </a:solidFill>
                <a:latin typeface="微软雅黑"/>
                <a:ea typeface="微软雅黑"/>
              </a:rPr>
              <a:t>
</a:t>
            </a:r>
            <a:r>
              <a:rPr sz="1400" b="1" i="0" dirty="0" err="1">
                <a:solidFill>
                  <a:srgbClr val="1F2D50"/>
                </a:solidFill>
                <a:latin typeface="微软雅黑"/>
                <a:ea typeface="微软雅黑"/>
              </a:rPr>
              <a:t>全参数网格实验</a:t>
            </a:r>
            <a:r>
              <a:rPr sz="1400" b="1" i="0" dirty="0">
                <a:solidFill>
                  <a:srgbClr val="1F2D50"/>
                </a:solidFill>
                <a:latin typeface="微软雅黑"/>
                <a:ea typeface="微软雅黑"/>
              </a:rPr>
              <a:t>
</a:t>
            </a:r>
            <a:r>
              <a:rPr sz="1400" b="1" i="0" dirty="0" err="1">
                <a:solidFill>
                  <a:srgbClr val="1F2D50"/>
                </a:solidFill>
                <a:latin typeface="微软雅黑"/>
                <a:ea typeface="微软雅黑"/>
              </a:rPr>
              <a:t>逐期轨迹分析＋消融实验</a:t>
            </a:r>
            <a:endParaRPr sz="1400" b="1" i="0" dirty="0">
              <a:solidFill>
                <a:srgbClr val="1F2D50"/>
              </a:solidFill>
              <a:latin typeface="微软雅黑"/>
              <a:ea typeface="微软雅黑"/>
            </a:endParaRPr>
          </a:p>
        </p:txBody>
      </p:sp>
      <p:cxnSp>
        <p:nvCxnSpPr>
          <p:cNvPr id="8" name="Connector 7"/>
          <p:cNvCxnSpPr/>
          <p:nvPr/>
        </p:nvCxnSpPr>
        <p:spPr>
          <a:xfrm>
            <a:off x="4069080" y="2468880"/>
            <a:ext cx="274320" cy="0"/>
          </a:xfrm>
          <a:prstGeom prst="line">
            <a:avLst/>
          </a:prstGeom>
          <a:ln w="19050">
            <a:solidFill>
              <a:srgbClr val="1F2D5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26679" y="2468880"/>
            <a:ext cx="274321" cy="0"/>
          </a:xfrm>
          <a:prstGeom prst="line">
            <a:avLst/>
          </a:prstGeom>
          <a:ln w="19050">
            <a:solidFill>
              <a:srgbClr val="1F2D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3749039"/>
            <a:ext cx="10789920" cy="1188720"/>
          </a:xfrm>
          <a:prstGeom prst="rect">
            <a:avLst/>
          </a:prstGeom>
          <a:noFill/>
        </p:spPr>
        <p:txBody>
          <a:bodyPr wrap="square">
            <a:spAutoFit/>
          </a:bodyPr>
          <a:lstStyle/>
          <a:p>
            <a:pPr algn="l">
              <a:lnSpc>
                <a:spcPct val="130000"/>
              </a:lnSpc>
            </a:pPr>
            <a:r>
              <a:rPr sz="1600" b="0" i="0" dirty="0" err="1">
                <a:solidFill>
                  <a:srgbClr val="1A1A1A"/>
                </a:solidFill>
                <a:latin typeface="微软雅黑"/>
                <a:ea typeface="微软雅黑"/>
              </a:rPr>
              <a:t>状态：动态目标库存</a:t>
            </a:r>
            <a:r>
              <a:rPr sz="1600" b="0" i="0" dirty="0">
                <a:solidFill>
                  <a:srgbClr val="1A1A1A"/>
                </a:solidFill>
                <a:latin typeface="微软雅黑"/>
                <a:ea typeface="微软雅黑"/>
              </a:rPr>
              <a:t> S_L(t)、</a:t>
            </a:r>
            <a:r>
              <a:rPr sz="1600" b="0" i="0" dirty="0" err="1">
                <a:solidFill>
                  <a:srgbClr val="1A1A1A"/>
                </a:solidFill>
                <a:latin typeface="微软雅黑"/>
                <a:ea typeface="微软雅黑"/>
              </a:rPr>
              <a:t>在途订单队列、周期相位编码</a:t>
            </a:r>
            <a:r>
              <a:rPr sz="1600" b="0" i="0" dirty="0">
                <a:solidFill>
                  <a:srgbClr val="1A1A1A"/>
                </a:solidFill>
                <a:latin typeface="微软雅黑"/>
                <a:ea typeface="微软雅黑"/>
              </a:rPr>
              <a:t> sin/</a:t>
            </a:r>
            <a:r>
              <a:rPr sz="1600" b="0" i="0" dirty="0" err="1">
                <a:solidFill>
                  <a:srgbClr val="1A1A1A"/>
                </a:solidFill>
                <a:latin typeface="微软雅黑"/>
                <a:ea typeface="微软雅黑"/>
              </a:rPr>
              <a:t>cos、规划期进度</a:t>
            </a:r>
            <a:r>
              <a:rPr sz="1600" b="0" i="0" dirty="0">
                <a:solidFill>
                  <a:srgbClr val="1A1A1A"/>
                </a:solidFill>
                <a:latin typeface="微软雅黑"/>
                <a:ea typeface="微软雅黑"/>
              </a:rPr>
              <a:t> t/T；
</a:t>
            </a:r>
            <a:r>
              <a:rPr sz="1600" b="0" i="0" dirty="0" err="1">
                <a:solidFill>
                  <a:srgbClr val="1A1A1A"/>
                </a:solidFill>
                <a:latin typeface="微软雅黑"/>
                <a:ea typeface="微软雅黑"/>
              </a:rPr>
              <a:t>动作：常规渠道订货量</a:t>
            </a:r>
            <a:r>
              <a:rPr sz="1600" b="0" i="0" dirty="0">
                <a:solidFill>
                  <a:srgbClr val="1A1A1A"/>
                </a:solidFill>
                <a:latin typeface="微软雅黑"/>
                <a:ea typeface="微软雅黑"/>
              </a:rPr>
              <a:t> q1、应急渠道订货量 q2（二维联合决策）；
</a:t>
            </a:r>
            <a:r>
              <a:rPr sz="1600" b="0" i="0" dirty="0" err="1">
                <a:solidFill>
                  <a:srgbClr val="1A1A1A"/>
                </a:solidFill>
                <a:latin typeface="微软雅黑"/>
                <a:ea typeface="微软雅黑"/>
              </a:rPr>
              <a:t>目标：最小化有限期折扣总成本</a:t>
            </a:r>
            <a:r>
              <a:rPr sz="1600" b="0" i="0" dirty="0">
                <a:solidFill>
                  <a:srgbClr val="1A1A1A"/>
                </a:solidFill>
                <a:latin typeface="微软雅黑"/>
                <a:ea typeface="微软雅黑"/>
              </a:rPr>
              <a:t> E[Σ α^(t-1)·</a:t>
            </a:r>
            <a:r>
              <a:rPr sz="1600" b="0" i="0" dirty="0" err="1">
                <a:solidFill>
                  <a:srgbClr val="1A1A1A"/>
                </a:solidFill>
                <a:latin typeface="微软雅黑"/>
                <a:ea typeface="微软雅黑"/>
              </a:rPr>
              <a:t>c_t</a:t>
            </a:r>
            <a:r>
              <a:rPr sz="1600" b="0" i="0" dirty="0">
                <a:solidFill>
                  <a:srgbClr val="1A1A1A"/>
                </a:solidFill>
                <a:latin typeface="微软雅黑"/>
                <a:ea typeface="微软雅黑"/>
              </a:rPr>
              <a:t>(</a:t>
            </a:r>
            <a:r>
              <a:rPr sz="1600" b="0" i="0" dirty="0" err="1">
                <a:solidFill>
                  <a:srgbClr val="1A1A1A"/>
                </a:solidFill>
                <a:latin typeface="微软雅黑"/>
                <a:ea typeface="微软雅黑"/>
              </a:rPr>
              <a:t>I_t</a:t>
            </a:r>
            <a:r>
              <a:rPr sz="1600" b="0" i="0" dirty="0">
                <a:solidFill>
                  <a:srgbClr val="1A1A1A"/>
                </a:solidFill>
                <a:latin typeface="微软雅黑"/>
                <a:ea typeface="微软雅黑"/>
              </a:rPr>
              <a:t>, </a:t>
            </a:r>
            <a:r>
              <a:rPr sz="1600" b="0" i="0" dirty="0" err="1">
                <a:solidFill>
                  <a:srgbClr val="1A1A1A"/>
                </a:solidFill>
                <a:latin typeface="微软雅黑"/>
                <a:ea typeface="微软雅黑"/>
              </a:rPr>
              <a:t>q_t</a:t>
            </a:r>
            <a:r>
              <a:rPr sz="1600" b="0" i="0" dirty="0">
                <a:solidFill>
                  <a:srgbClr val="1A1A1A"/>
                </a:solidFill>
                <a:latin typeface="微软雅黑"/>
                <a:ea typeface="微软雅黑"/>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881360" cy="822960"/>
          </a:xfrm>
          <a:prstGeom prst="rect">
            <a:avLst/>
          </a:prstGeom>
          <a:noFill/>
        </p:spPr>
        <p:txBody>
          <a:bodyPr wrap="square">
            <a:spAutoFit/>
          </a:bodyPr>
          <a:lstStyle/>
          <a:p>
            <a:r>
              <a:rPr sz="2800" b="1" i="0">
                <a:solidFill>
                  <a:srgbClr val="1F2D50"/>
                </a:solidFill>
                <a:latin typeface="微软雅黑"/>
                <a:ea typeface="微软雅黑"/>
              </a:rPr>
              <a:t>六、研究方法与技术路线图</a:t>
            </a:r>
          </a:p>
        </p:txBody>
      </p:sp>
      <p:cxnSp>
        <p:nvCxnSpPr>
          <p:cNvPr id="3" name="Connector 2"/>
          <p:cNvCxnSpPr/>
          <p:nvPr/>
        </p:nvCxnSpPr>
        <p:spPr>
          <a:xfrm>
            <a:off x="640080" y="1170432"/>
            <a:ext cx="10908792" cy="0"/>
          </a:xfrm>
          <a:prstGeom prst="line">
            <a:avLst/>
          </a:prstGeom>
          <a:ln w="19050">
            <a:solidFill>
              <a:srgbClr val="1F2D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338560" y="6473952"/>
            <a:ext cx="640080" cy="320040"/>
          </a:xfrm>
          <a:prstGeom prst="rect">
            <a:avLst/>
          </a:prstGeom>
          <a:noFill/>
        </p:spPr>
        <p:txBody>
          <a:bodyPr wrap="none">
            <a:spAutoFit/>
          </a:bodyPr>
          <a:lstStyle/>
          <a:p>
            <a:pPr algn="r"/>
            <a:r>
              <a:rPr sz="1100" b="0" i="0">
                <a:solidFill>
                  <a:srgbClr val="8A8A8A"/>
                </a:solidFill>
                <a:latin typeface="微软雅黑"/>
                <a:ea typeface="微软雅黑"/>
              </a:rPr>
              <a:t>7 / 10</a:t>
            </a:r>
          </a:p>
        </p:txBody>
      </p:sp>
      <p:sp>
        <p:nvSpPr>
          <p:cNvPr id="5" name="Rounded Rectangle 4"/>
          <p:cNvSpPr/>
          <p:nvPr/>
        </p:nvSpPr>
        <p:spPr>
          <a:xfrm>
            <a:off x="403707" y="1920240"/>
            <a:ext cx="1691640" cy="1188720"/>
          </a:xfrm>
          <a:prstGeom prst="roundRect">
            <a:avLst/>
          </a:prstGeom>
          <a:solidFill>
            <a:srgbClr val="F2F4F8"/>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50" b="1" i="0">
                <a:solidFill>
                  <a:srgbClr val="1F2D50"/>
                </a:solidFill>
                <a:latin typeface="微软雅黑"/>
                <a:ea typeface="微软雅黑"/>
              </a:rPr>
              <a:t>①文献调研
与问题定义</a:t>
            </a:r>
          </a:p>
        </p:txBody>
      </p:sp>
      <p:cxnSp>
        <p:nvCxnSpPr>
          <p:cNvPr id="6" name="Connector 5"/>
          <p:cNvCxnSpPr/>
          <p:nvPr/>
        </p:nvCxnSpPr>
        <p:spPr>
          <a:xfrm>
            <a:off x="2095347" y="2514600"/>
            <a:ext cx="246888" cy="0"/>
          </a:xfrm>
          <a:prstGeom prst="line">
            <a:avLst/>
          </a:prstGeom>
          <a:ln w="19050">
            <a:solidFill>
              <a:srgbClr val="1F2D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342235" y="1920240"/>
            <a:ext cx="1691640" cy="1188720"/>
          </a:xfrm>
          <a:prstGeom prst="roundRect">
            <a:avLst/>
          </a:prstGeom>
          <a:solidFill>
            <a:srgbClr val="F2F4F8"/>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50" b="1" i="0">
                <a:solidFill>
                  <a:srgbClr val="1F2D50"/>
                </a:solidFill>
                <a:latin typeface="微软雅黑"/>
                <a:ea typeface="微软雅黑"/>
              </a:rPr>
              <a:t>②扩展MDP
建模</a:t>
            </a:r>
          </a:p>
        </p:txBody>
      </p:sp>
      <p:cxnSp>
        <p:nvCxnSpPr>
          <p:cNvPr id="8" name="Connector 7"/>
          <p:cNvCxnSpPr/>
          <p:nvPr/>
        </p:nvCxnSpPr>
        <p:spPr>
          <a:xfrm>
            <a:off x="4033875" y="2514600"/>
            <a:ext cx="246888" cy="0"/>
          </a:xfrm>
          <a:prstGeom prst="line">
            <a:avLst/>
          </a:prstGeom>
          <a:ln w="19050">
            <a:solidFill>
              <a:srgbClr val="1F2D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280763" y="1920240"/>
            <a:ext cx="1691640" cy="1188720"/>
          </a:xfrm>
          <a:prstGeom prst="roundRect">
            <a:avLst/>
          </a:prstGeom>
          <a:solidFill>
            <a:srgbClr val="F2F4F8"/>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50" b="1" i="0">
                <a:solidFill>
                  <a:srgbClr val="1F2D50"/>
                </a:solidFill>
                <a:latin typeface="微软雅黑"/>
                <a:ea typeface="微软雅黑"/>
              </a:rPr>
              <a:t>③启发式基准与
DRL架构实现</a:t>
            </a:r>
          </a:p>
        </p:txBody>
      </p:sp>
      <p:cxnSp>
        <p:nvCxnSpPr>
          <p:cNvPr id="10" name="Connector 9"/>
          <p:cNvCxnSpPr/>
          <p:nvPr/>
        </p:nvCxnSpPr>
        <p:spPr>
          <a:xfrm>
            <a:off x="5972403" y="2514600"/>
            <a:ext cx="246888" cy="0"/>
          </a:xfrm>
          <a:prstGeom prst="line">
            <a:avLst/>
          </a:prstGeom>
          <a:ln w="19050">
            <a:solidFill>
              <a:srgbClr val="1F2D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19291" y="1920240"/>
            <a:ext cx="1691640" cy="1188720"/>
          </a:xfrm>
          <a:prstGeom prst="roundRect">
            <a:avLst/>
          </a:prstGeom>
          <a:solidFill>
            <a:srgbClr val="F2F4F8"/>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50" b="1" i="0">
                <a:solidFill>
                  <a:srgbClr val="1F2D50"/>
                </a:solidFill>
                <a:latin typeface="微软雅黑"/>
                <a:ea typeface="微软雅黑"/>
              </a:rPr>
              <a:t>④全参数网格
数值实验</a:t>
            </a:r>
          </a:p>
        </p:txBody>
      </p:sp>
      <p:cxnSp>
        <p:nvCxnSpPr>
          <p:cNvPr id="12" name="Connector 11"/>
          <p:cNvCxnSpPr/>
          <p:nvPr/>
        </p:nvCxnSpPr>
        <p:spPr>
          <a:xfrm>
            <a:off x="7910931" y="2514600"/>
            <a:ext cx="246888" cy="0"/>
          </a:xfrm>
          <a:prstGeom prst="line">
            <a:avLst/>
          </a:prstGeom>
          <a:ln w="19050">
            <a:solidFill>
              <a:srgbClr val="1F2D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157819" y="1920240"/>
            <a:ext cx="1691640" cy="1188720"/>
          </a:xfrm>
          <a:prstGeom prst="roundRect">
            <a:avLst/>
          </a:prstGeom>
          <a:solidFill>
            <a:srgbClr val="F2F4F8"/>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50" b="1" i="0">
                <a:solidFill>
                  <a:srgbClr val="1F2D50"/>
                </a:solidFill>
                <a:latin typeface="微软雅黑"/>
                <a:ea typeface="微软雅黑"/>
              </a:rPr>
              <a:t>⑤消融实验与
机理分析</a:t>
            </a:r>
          </a:p>
        </p:txBody>
      </p:sp>
      <p:cxnSp>
        <p:nvCxnSpPr>
          <p:cNvPr id="14" name="Connector 13"/>
          <p:cNvCxnSpPr/>
          <p:nvPr/>
        </p:nvCxnSpPr>
        <p:spPr>
          <a:xfrm>
            <a:off x="9849459" y="2514600"/>
            <a:ext cx="246888" cy="0"/>
          </a:xfrm>
          <a:prstGeom prst="line">
            <a:avLst/>
          </a:prstGeom>
          <a:ln w="19050">
            <a:solidFill>
              <a:srgbClr val="1F2D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096347" y="1920240"/>
            <a:ext cx="1691640" cy="1188720"/>
          </a:xfrm>
          <a:prstGeom prst="roundRect">
            <a:avLst/>
          </a:prstGeom>
          <a:solidFill>
            <a:srgbClr val="F2F4F8"/>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50" b="1" i="0" dirty="0">
                <a:solidFill>
                  <a:srgbClr val="1F2D50"/>
                </a:solidFill>
                <a:latin typeface="微软雅黑"/>
                <a:ea typeface="微软雅黑"/>
              </a:rPr>
              <a:t>⑥</a:t>
            </a:r>
            <a:r>
              <a:rPr sz="1250" b="1" i="0" dirty="0" err="1">
                <a:solidFill>
                  <a:srgbClr val="1F2D50"/>
                </a:solidFill>
                <a:latin typeface="微软雅黑"/>
                <a:ea typeface="微软雅黑"/>
              </a:rPr>
              <a:t>论文撰写与</a:t>
            </a:r>
            <a:r>
              <a:rPr sz="1250" b="1" i="0" dirty="0">
                <a:solidFill>
                  <a:srgbClr val="1F2D50"/>
                </a:solidFill>
                <a:latin typeface="微软雅黑"/>
                <a:ea typeface="微软雅黑"/>
              </a:rPr>
              <a:t>
</a:t>
            </a:r>
            <a:r>
              <a:rPr sz="1250" b="1" i="0" dirty="0" err="1">
                <a:solidFill>
                  <a:srgbClr val="1F2D50"/>
                </a:solidFill>
                <a:latin typeface="微软雅黑"/>
                <a:ea typeface="微软雅黑"/>
              </a:rPr>
              <a:t>答辩准备</a:t>
            </a:r>
            <a:endParaRPr sz="1250" b="1" i="0" dirty="0">
              <a:solidFill>
                <a:srgbClr val="1F2D50"/>
              </a:solidFill>
              <a:latin typeface="微软雅黑"/>
              <a:ea typeface="微软雅黑"/>
            </a:endParaRPr>
          </a:p>
        </p:txBody>
      </p:sp>
      <p:sp>
        <p:nvSpPr>
          <p:cNvPr id="16" name="TextBox 15"/>
          <p:cNvSpPr txBox="1"/>
          <p:nvPr/>
        </p:nvSpPr>
        <p:spPr>
          <a:xfrm>
            <a:off x="685800" y="3520440"/>
            <a:ext cx="10789920" cy="548640"/>
          </a:xfrm>
          <a:prstGeom prst="rect">
            <a:avLst/>
          </a:prstGeom>
          <a:noFill/>
        </p:spPr>
        <p:txBody>
          <a:bodyPr wrap="square">
            <a:spAutoFit/>
          </a:bodyPr>
          <a:lstStyle/>
          <a:p>
            <a:pPr algn="ctr">
              <a:lnSpc>
                <a:spcPct val="130000"/>
              </a:lnSpc>
            </a:pPr>
            <a:r>
              <a:rPr sz="1700" b="0" i="0">
                <a:solidFill>
                  <a:srgbClr val="1A1A1A"/>
                </a:solidFill>
                <a:latin typeface="微软雅黑"/>
                <a:ea typeface="微软雅黑"/>
              </a:rPr>
              <a:t>研究方法：文献研究法 ｜ 数学建模法 ｜ 深度强化学习建模与训练法 ｜ 仿真实验法 ｜ 对比分析法</a:t>
            </a:r>
          </a:p>
        </p:txBody>
      </p:sp>
      <p:cxnSp>
        <p:nvCxnSpPr>
          <p:cNvPr id="17" name="Connector 16"/>
          <p:cNvCxnSpPr/>
          <p:nvPr/>
        </p:nvCxnSpPr>
        <p:spPr>
          <a:xfrm>
            <a:off x="822960" y="4114800"/>
            <a:ext cx="10543032" cy="0"/>
          </a:xfrm>
          <a:prstGeom prst="line">
            <a:avLst/>
          </a:prstGeom>
          <a:ln w="9525">
            <a:solidFill>
              <a:srgbClr val="8A8A8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4343400"/>
            <a:ext cx="10789920" cy="1828800"/>
          </a:xfrm>
          <a:prstGeom prst="rect">
            <a:avLst/>
          </a:prstGeom>
          <a:noFill/>
        </p:spPr>
        <p:txBody>
          <a:bodyPr wrap="square">
            <a:spAutoFit/>
          </a:bodyPr>
          <a:lstStyle/>
          <a:p>
            <a:pPr>
              <a:lnSpc>
                <a:spcPct val="125000"/>
              </a:lnSpc>
              <a:spcAft>
                <a:spcPts val="800"/>
              </a:spcAft>
            </a:pPr>
            <a:r>
              <a:rPr sz="1500" b="1" i="0">
                <a:solidFill>
                  <a:srgbClr val="1A1A1A"/>
                </a:solidFill>
                <a:latin typeface="微软雅黑"/>
                <a:ea typeface="微软雅黑"/>
              </a:rPr>
              <a:t>▪ 关键技术/难点①：非平稳需求下兼顾马尔可夫性与可学习性的时间编码方案设计；</a:t>
            </a:r>
          </a:p>
          <a:p>
            <a:pPr>
              <a:lnSpc>
                <a:spcPct val="125000"/>
              </a:lnSpc>
              <a:spcAft>
                <a:spcPts val="800"/>
              </a:spcAft>
            </a:pPr>
            <a:r>
              <a:rPr sz="1500" b="1" i="0">
                <a:solidFill>
                  <a:srgbClr val="1A1A1A"/>
                </a:solidFill>
                <a:latin typeface="微软雅黑"/>
                <a:ea typeface="微软雅黑"/>
              </a:rPr>
              <a:t>▪ 关键技术/难点②：双渠道联合动作空间下训练稳定、兼顾探索与先验约束的网络架构与损失函数；</a:t>
            </a:r>
          </a:p>
          <a:p>
            <a:pPr>
              <a:lnSpc>
                <a:spcPct val="125000"/>
              </a:lnSpc>
              <a:spcAft>
                <a:spcPts val="800"/>
              </a:spcAft>
            </a:pPr>
            <a:r>
              <a:rPr sz="1500" b="1" i="0">
                <a:solidFill>
                  <a:srgbClr val="1A1A1A"/>
                </a:solidFill>
                <a:latin typeface="微软雅黑"/>
                <a:ea typeface="微软雅黑"/>
              </a:rPr>
              <a:t>▪ 关键技术/难点③：全参数网格＋消融实验的大规模并行化与断点续跑机制。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881360" cy="822960"/>
          </a:xfrm>
          <a:prstGeom prst="rect">
            <a:avLst/>
          </a:prstGeom>
          <a:noFill/>
        </p:spPr>
        <p:txBody>
          <a:bodyPr wrap="square">
            <a:spAutoFit/>
          </a:bodyPr>
          <a:lstStyle/>
          <a:p>
            <a:r>
              <a:rPr sz="2800" b="1" i="0">
                <a:solidFill>
                  <a:srgbClr val="1F2D50"/>
                </a:solidFill>
                <a:latin typeface="微软雅黑"/>
                <a:ea typeface="微软雅黑"/>
              </a:rPr>
              <a:t>七、可行性分析与研究基础</a:t>
            </a:r>
          </a:p>
        </p:txBody>
      </p:sp>
      <p:cxnSp>
        <p:nvCxnSpPr>
          <p:cNvPr id="3" name="Connector 2"/>
          <p:cNvCxnSpPr/>
          <p:nvPr/>
        </p:nvCxnSpPr>
        <p:spPr>
          <a:xfrm>
            <a:off x="640080" y="1170432"/>
            <a:ext cx="10908792" cy="0"/>
          </a:xfrm>
          <a:prstGeom prst="line">
            <a:avLst/>
          </a:prstGeom>
          <a:ln w="19050">
            <a:solidFill>
              <a:srgbClr val="1F2D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338560" y="6473952"/>
            <a:ext cx="640080" cy="320040"/>
          </a:xfrm>
          <a:prstGeom prst="rect">
            <a:avLst/>
          </a:prstGeom>
          <a:noFill/>
        </p:spPr>
        <p:txBody>
          <a:bodyPr wrap="none">
            <a:spAutoFit/>
          </a:bodyPr>
          <a:lstStyle/>
          <a:p>
            <a:pPr algn="r"/>
            <a:r>
              <a:rPr sz="1100" b="0" i="0">
                <a:solidFill>
                  <a:srgbClr val="8A8A8A"/>
                </a:solidFill>
                <a:latin typeface="微软雅黑"/>
                <a:ea typeface="微软雅黑"/>
              </a:rPr>
              <a:t>8 / 10</a:t>
            </a:r>
          </a:p>
        </p:txBody>
      </p:sp>
      <p:sp>
        <p:nvSpPr>
          <p:cNvPr id="5" name="TextBox 4"/>
          <p:cNvSpPr txBox="1"/>
          <p:nvPr/>
        </p:nvSpPr>
        <p:spPr>
          <a:xfrm>
            <a:off x="685800" y="1371600"/>
            <a:ext cx="5303520" cy="365760"/>
          </a:xfrm>
          <a:prstGeom prst="rect">
            <a:avLst/>
          </a:prstGeom>
          <a:noFill/>
        </p:spPr>
        <p:txBody>
          <a:bodyPr wrap="none">
            <a:spAutoFit/>
          </a:bodyPr>
          <a:lstStyle/>
          <a:p>
            <a:r>
              <a:rPr sz="1900" b="1" i="0">
                <a:solidFill>
                  <a:srgbClr val="1F2D50"/>
                </a:solidFill>
                <a:latin typeface="微软雅黑"/>
                <a:ea typeface="微软雅黑"/>
              </a:rPr>
              <a:t>可行性分析</a:t>
            </a:r>
          </a:p>
        </p:txBody>
      </p:sp>
      <p:sp>
        <p:nvSpPr>
          <p:cNvPr id="6" name="TextBox 5"/>
          <p:cNvSpPr txBox="1"/>
          <p:nvPr/>
        </p:nvSpPr>
        <p:spPr>
          <a:xfrm>
            <a:off x="685800" y="1783080"/>
            <a:ext cx="5303520" cy="2404056"/>
          </a:xfrm>
          <a:prstGeom prst="rect">
            <a:avLst/>
          </a:prstGeom>
          <a:noFill/>
        </p:spPr>
        <p:txBody>
          <a:bodyPr wrap="square">
            <a:spAutoFit/>
          </a:bodyPr>
          <a:lstStyle/>
          <a:p>
            <a:pPr>
              <a:lnSpc>
                <a:spcPct val="125000"/>
              </a:lnSpc>
              <a:spcAft>
                <a:spcPts val="1000"/>
              </a:spcAft>
            </a:pPr>
            <a:r>
              <a:rPr sz="1450" b="1" i="0" dirty="0">
                <a:solidFill>
                  <a:srgbClr val="1A1A1A"/>
                </a:solidFill>
                <a:latin typeface="微软雅黑"/>
                <a:ea typeface="微软雅黑"/>
              </a:rPr>
              <a:t>▪ </a:t>
            </a:r>
            <a:r>
              <a:rPr sz="1450" b="1" i="0" dirty="0" err="1">
                <a:solidFill>
                  <a:srgbClr val="1A1A1A"/>
                </a:solidFill>
                <a:latin typeface="微软雅黑"/>
                <a:ea typeface="微软雅黑"/>
              </a:rPr>
              <a:t>理论可行：建立在成熟的MDP理论、随机库存理论与深度强化学习</a:t>
            </a:r>
            <a:r>
              <a:rPr lang="zh-CN" altLang="en-US" sz="1450" b="1" i="0" dirty="0">
                <a:solidFill>
                  <a:srgbClr val="1A1A1A"/>
                </a:solidFill>
                <a:latin typeface="微软雅黑"/>
                <a:ea typeface="微软雅黑"/>
              </a:rPr>
              <a:t>的文献基础</a:t>
            </a:r>
            <a:r>
              <a:rPr sz="1450" b="1" i="0" dirty="0" err="1">
                <a:solidFill>
                  <a:srgbClr val="1A1A1A"/>
                </a:solidFill>
                <a:latin typeface="微软雅黑"/>
                <a:ea typeface="微软雅黑"/>
              </a:rPr>
              <a:t>之上</a:t>
            </a:r>
            <a:r>
              <a:rPr sz="1450" b="1" i="0" dirty="0">
                <a:solidFill>
                  <a:srgbClr val="1A1A1A"/>
                </a:solidFill>
                <a:latin typeface="微软雅黑"/>
                <a:ea typeface="微软雅黑"/>
              </a:rPr>
              <a:t>；</a:t>
            </a:r>
          </a:p>
          <a:p>
            <a:pPr>
              <a:lnSpc>
                <a:spcPct val="125000"/>
              </a:lnSpc>
              <a:spcAft>
                <a:spcPts val="1000"/>
              </a:spcAft>
            </a:pPr>
            <a:r>
              <a:rPr sz="1450" b="1" i="0" dirty="0">
                <a:solidFill>
                  <a:srgbClr val="1A1A1A"/>
                </a:solidFill>
                <a:latin typeface="微软雅黑"/>
                <a:ea typeface="微软雅黑"/>
              </a:rPr>
              <a:t>▪ </a:t>
            </a:r>
            <a:r>
              <a:rPr sz="1450" b="1" i="0" dirty="0" err="1">
                <a:solidFill>
                  <a:srgbClr val="1A1A1A"/>
                </a:solidFill>
                <a:latin typeface="微软雅黑"/>
                <a:ea typeface="微软雅黑"/>
              </a:rPr>
              <a:t>技术可行：仿真环境与网络架构均可基于</a:t>
            </a:r>
            <a:r>
              <a:rPr sz="1450" b="1" i="0" dirty="0">
                <a:solidFill>
                  <a:srgbClr val="1A1A1A"/>
                </a:solidFill>
                <a:latin typeface="微软雅黑"/>
                <a:ea typeface="微软雅黑"/>
              </a:rPr>
              <a:t> Python / </a:t>
            </a:r>
            <a:r>
              <a:rPr sz="1450" b="1" i="0" dirty="0" err="1">
                <a:solidFill>
                  <a:srgbClr val="1A1A1A"/>
                </a:solidFill>
                <a:latin typeface="微软雅黑"/>
                <a:ea typeface="微软雅黑"/>
              </a:rPr>
              <a:t>PyTorch</a:t>
            </a:r>
            <a:r>
              <a:rPr sz="1450" b="1" i="0" dirty="0">
                <a:solidFill>
                  <a:srgbClr val="1A1A1A"/>
                </a:solidFill>
                <a:latin typeface="微软雅黑"/>
                <a:ea typeface="微软雅黑"/>
              </a:rPr>
              <a:t> </a:t>
            </a:r>
            <a:r>
              <a:rPr sz="1450" b="1" i="0" dirty="0" err="1">
                <a:solidFill>
                  <a:srgbClr val="1A1A1A"/>
                </a:solidFill>
                <a:latin typeface="微软雅黑"/>
                <a:ea typeface="微软雅黑"/>
              </a:rPr>
              <a:t>实现</a:t>
            </a:r>
            <a:r>
              <a:rPr sz="1450" b="1" i="0" dirty="0">
                <a:solidFill>
                  <a:srgbClr val="1A1A1A"/>
                </a:solidFill>
                <a:latin typeface="微软雅黑"/>
                <a:ea typeface="微软雅黑"/>
              </a:rPr>
              <a:t>；</a:t>
            </a:r>
          </a:p>
          <a:p>
            <a:pPr>
              <a:lnSpc>
                <a:spcPct val="125000"/>
              </a:lnSpc>
              <a:spcAft>
                <a:spcPts val="1000"/>
              </a:spcAft>
            </a:pPr>
            <a:r>
              <a:rPr sz="1450" b="1" i="0" dirty="0">
                <a:solidFill>
                  <a:srgbClr val="1A1A1A"/>
                </a:solidFill>
                <a:latin typeface="微软雅黑"/>
                <a:ea typeface="微软雅黑"/>
              </a:rPr>
              <a:t>▪ </a:t>
            </a:r>
            <a:r>
              <a:rPr sz="1450" b="1" i="0" dirty="0" err="1">
                <a:solidFill>
                  <a:srgbClr val="1A1A1A"/>
                </a:solidFill>
                <a:latin typeface="微软雅黑"/>
                <a:ea typeface="微软雅黑"/>
              </a:rPr>
              <a:t>数据可行：数值实验基于可自主生成的仿真数据，无数据获取障碍</a:t>
            </a:r>
            <a:r>
              <a:rPr lang="zh-CN" altLang="en-US" sz="1450" b="1" i="0" dirty="0">
                <a:solidFill>
                  <a:srgbClr val="1A1A1A"/>
                </a:solidFill>
                <a:latin typeface="微软雅黑"/>
                <a:ea typeface="微软雅黑"/>
              </a:rPr>
              <a:t>，且可复现</a:t>
            </a:r>
            <a:r>
              <a:rPr sz="1450" b="1" i="0" dirty="0">
                <a:solidFill>
                  <a:srgbClr val="1A1A1A"/>
                </a:solidFill>
                <a:latin typeface="微软雅黑"/>
                <a:ea typeface="微软雅黑"/>
              </a:rPr>
              <a:t>；</a:t>
            </a:r>
          </a:p>
          <a:p>
            <a:pPr>
              <a:lnSpc>
                <a:spcPct val="125000"/>
              </a:lnSpc>
              <a:spcAft>
                <a:spcPts val="1000"/>
              </a:spcAft>
            </a:pPr>
            <a:r>
              <a:rPr sz="1450" b="1" i="0" dirty="0">
                <a:solidFill>
                  <a:srgbClr val="1A1A1A"/>
                </a:solidFill>
                <a:latin typeface="微软雅黑"/>
                <a:ea typeface="微软雅黑"/>
              </a:rPr>
              <a:t>▪ </a:t>
            </a:r>
            <a:r>
              <a:rPr sz="1450" b="1" i="0" dirty="0" err="1">
                <a:solidFill>
                  <a:srgbClr val="1A1A1A"/>
                </a:solidFill>
                <a:latin typeface="微软雅黑"/>
                <a:ea typeface="微软雅黑"/>
              </a:rPr>
              <a:t>时间可行：按阶段合理分解，覆盖建模、实现、实验与写作</a:t>
            </a:r>
            <a:r>
              <a:rPr sz="1450" b="1" i="0" dirty="0">
                <a:solidFill>
                  <a:srgbClr val="1A1A1A"/>
                </a:solidFill>
                <a:latin typeface="微软雅黑"/>
                <a:ea typeface="微软雅黑"/>
              </a:rPr>
              <a:t>。</a:t>
            </a:r>
          </a:p>
        </p:txBody>
      </p:sp>
      <p:sp>
        <p:nvSpPr>
          <p:cNvPr id="7" name="TextBox 6"/>
          <p:cNvSpPr txBox="1"/>
          <p:nvPr/>
        </p:nvSpPr>
        <p:spPr>
          <a:xfrm>
            <a:off x="6263640" y="1371600"/>
            <a:ext cx="5303520" cy="365760"/>
          </a:xfrm>
          <a:prstGeom prst="rect">
            <a:avLst/>
          </a:prstGeom>
          <a:noFill/>
        </p:spPr>
        <p:txBody>
          <a:bodyPr wrap="none">
            <a:spAutoFit/>
          </a:bodyPr>
          <a:lstStyle/>
          <a:p>
            <a:r>
              <a:rPr sz="1900" b="1" i="0">
                <a:solidFill>
                  <a:srgbClr val="1F2D50"/>
                </a:solidFill>
                <a:latin typeface="微软雅黑"/>
                <a:ea typeface="微软雅黑"/>
              </a:rPr>
              <a:t>研究基础（已完成工作）</a:t>
            </a:r>
          </a:p>
        </p:txBody>
      </p:sp>
      <p:sp>
        <p:nvSpPr>
          <p:cNvPr id="8" name="TextBox 7"/>
          <p:cNvSpPr txBox="1"/>
          <p:nvPr/>
        </p:nvSpPr>
        <p:spPr>
          <a:xfrm>
            <a:off x="6263640" y="1783080"/>
            <a:ext cx="5303520" cy="2682979"/>
          </a:xfrm>
          <a:prstGeom prst="rect">
            <a:avLst/>
          </a:prstGeom>
          <a:noFill/>
        </p:spPr>
        <p:txBody>
          <a:bodyPr wrap="square">
            <a:spAutoFit/>
          </a:bodyPr>
          <a:lstStyle/>
          <a:p>
            <a:pPr>
              <a:lnSpc>
                <a:spcPct val="125000"/>
              </a:lnSpc>
              <a:spcAft>
                <a:spcPts val="1000"/>
              </a:spcAft>
            </a:pPr>
            <a:r>
              <a:rPr lang="zh-CN" altLang="en-US" sz="1450" b="1" dirty="0">
                <a:solidFill>
                  <a:srgbClr val="1A1A1A"/>
                </a:solidFill>
                <a:latin typeface="微软雅黑"/>
                <a:ea typeface="微软雅黑"/>
              </a:rPr>
              <a:t>▪ 已系统阅读相关领域中外文文献，形成较完整文献图谱与问题定位；</a:t>
            </a:r>
            <a:endParaRPr lang="en-US" sz="1450" b="1" i="0" dirty="0">
              <a:solidFill>
                <a:srgbClr val="1A1A1A"/>
              </a:solidFill>
              <a:latin typeface="微软雅黑"/>
              <a:ea typeface="微软雅黑"/>
            </a:endParaRPr>
          </a:p>
          <a:p>
            <a:pPr>
              <a:lnSpc>
                <a:spcPct val="125000"/>
              </a:lnSpc>
              <a:spcAft>
                <a:spcPts val="1000"/>
              </a:spcAft>
            </a:pPr>
            <a:r>
              <a:rPr sz="1450" b="1" i="0" dirty="0">
                <a:solidFill>
                  <a:srgbClr val="1A1A1A"/>
                </a:solidFill>
                <a:latin typeface="微软雅黑"/>
                <a:ea typeface="微软雅黑"/>
              </a:rPr>
              <a:t>▪ </a:t>
            </a:r>
            <a:r>
              <a:rPr sz="1450" b="1" i="0" dirty="0" err="1">
                <a:solidFill>
                  <a:srgbClr val="1A1A1A"/>
                </a:solidFill>
                <a:latin typeface="微软雅黑"/>
                <a:ea typeface="微软雅黑"/>
              </a:rPr>
              <a:t>已复现随机良率库存基准问题的仿真环境与</a:t>
            </a:r>
            <a:r>
              <a:rPr sz="1450" b="1" i="0" dirty="0">
                <a:solidFill>
                  <a:srgbClr val="1A1A1A"/>
                </a:solidFill>
                <a:latin typeface="微软雅黑"/>
                <a:ea typeface="微软雅黑"/>
              </a:rPr>
              <a:t> LIR/WNH </a:t>
            </a:r>
            <a:r>
              <a:rPr sz="1450" b="1" i="0" dirty="0" err="1">
                <a:solidFill>
                  <a:srgbClr val="1A1A1A"/>
                </a:solidFill>
                <a:latin typeface="微软雅黑"/>
                <a:ea typeface="微软雅黑"/>
              </a:rPr>
              <a:t>等基准策略代码</a:t>
            </a:r>
            <a:r>
              <a:rPr sz="1450" b="1" i="0" dirty="0">
                <a:solidFill>
                  <a:srgbClr val="1A1A1A"/>
                </a:solidFill>
                <a:latin typeface="微软雅黑"/>
                <a:ea typeface="微软雅黑"/>
              </a:rPr>
              <a:t>；</a:t>
            </a:r>
          </a:p>
          <a:p>
            <a:pPr>
              <a:lnSpc>
                <a:spcPct val="125000"/>
              </a:lnSpc>
              <a:spcAft>
                <a:spcPts val="1000"/>
              </a:spcAft>
            </a:pPr>
            <a:r>
              <a:rPr sz="1450" b="1" i="0" dirty="0">
                <a:solidFill>
                  <a:srgbClr val="1A1A1A"/>
                </a:solidFill>
                <a:latin typeface="微软雅黑"/>
                <a:ea typeface="微软雅黑"/>
              </a:rPr>
              <a:t>▪ </a:t>
            </a:r>
            <a:r>
              <a:rPr sz="1450" b="1" i="0" dirty="0" err="1">
                <a:solidFill>
                  <a:srgbClr val="1A1A1A"/>
                </a:solidFill>
                <a:latin typeface="微软雅黑"/>
                <a:ea typeface="微软雅黑"/>
              </a:rPr>
              <a:t>已搭建季节性与双源两类扩展仿真环境，设计了双输出网络架构原型</a:t>
            </a:r>
            <a:r>
              <a:rPr sz="1450" b="1" i="0" dirty="0">
                <a:solidFill>
                  <a:srgbClr val="1A1A1A"/>
                </a:solidFill>
                <a:latin typeface="微软雅黑"/>
                <a:ea typeface="微软雅黑"/>
              </a:rPr>
              <a:t>；</a:t>
            </a:r>
          </a:p>
          <a:p>
            <a:pPr>
              <a:lnSpc>
                <a:spcPct val="125000"/>
              </a:lnSpc>
              <a:spcAft>
                <a:spcPts val="1000"/>
              </a:spcAft>
            </a:pPr>
            <a:r>
              <a:rPr sz="1450" b="1" i="0" dirty="0">
                <a:solidFill>
                  <a:srgbClr val="1A1A1A"/>
                </a:solidFill>
                <a:latin typeface="微软雅黑"/>
                <a:ea typeface="微软雅黑"/>
              </a:rPr>
              <a:t>▪ </a:t>
            </a:r>
            <a:r>
              <a:rPr sz="1450" b="1" i="0" dirty="0" err="1">
                <a:solidFill>
                  <a:srgbClr val="1A1A1A"/>
                </a:solidFill>
                <a:latin typeface="微软雅黑"/>
                <a:ea typeface="微软雅黑"/>
              </a:rPr>
              <a:t>已在部分参数组合下完成初步训练评估，所提方法相对基准具有稳定成本优势</a:t>
            </a:r>
            <a:r>
              <a:rPr lang="zh-CN" altLang="en-US" sz="1450" b="1" dirty="0">
                <a:solidFill>
                  <a:srgbClr val="1A1A1A"/>
                </a:solidFill>
                <a:latin typeface="微软雅黑"/>
                <a:ea typeface="微软雅黑"/>
              </a:rPr>
              <a:t>。</a:t>
            </a:r>
            <a:endParaRPr sz="1450" b="1" i="0" dirty="0">
              <a:solidFill>
                <a:srgbClr val="1A1A1A"/>
              </a:solidFill>
              <a:latin typeface="微软雅黑"/>
              <a:ea typeface="微软雅黑"/>
            </a:endParaRPr>
          </a:p>
        </p:txBody>
      </p:sp>
      <p:cxnSp>
        <p:nvCxnSpPr>
          <p:cNvPr id="9" name="Connector 8"/>
          <p:cNvCxnSpPr/>
          <p:nvPr/>
        </p:nvCxnSpPr>
        <p:spPr>
          <a:xfrm>
            <a:off x="5943600" y="1463040"/>
            <a:ext cx="0" cy="3657600"/>
          </a:xfrm>
          <a:prstGeom prst="line">
            <a:avLst/>
          </a:prstGeom>
          <a:ln w="9525">
            <a:solidFill>
              <a:srgbClr val="8A8A8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881360" cy="822960"/>
          </a:xfrm>
          <a:prstGeom prst="rect">
            <a:avLst/>
          </a:prstGeom>
          <a:noFill/>
        </p:spPr>
        <p:txBody>
          <a:bodyPr wrap="square">
            <a:spAutoFit/>
          </a:bodyPr>
          <a:lstStyle/>
          <a:p>
            <a:r>
              <a:rPr sz="2800" b="1" i="0">
                <a:solidFill>
                  <a:srgbClr val="1F2D50"/>
                </a:solidFill>
                <a:latin typeface="微软雅黑"/>
                <a:ea typeface="微软雅黑"/>
              </a:rPr>
              <a:t>八、预期成果与研究进度</a:t>
            </a:r>
          </a:p>
        </p:txBody>
      </p:sp>
      <p:cxnSp>
        <p:nvCxnSpPr>
          <p:cNvPr id="3" name="Connector 2"/>
          <p:cNvCxnSpPr/>
          <p:nvPr/>
        </p:nvCxnSpPr>
        <p:spPr>
          <a:xfrm>
            <a:off x="640080" y="1170432"/>
            <a:ext cx="10908792" cy="0"/>
          </a:xfrm>
          <a:prstGeom prst="line">
            <a:avLst/>
          </a:prstGeom>
          <a:ln w="19050">
            <a:solidFill>
              <a:srgbClr val="1F2D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338560" y="6473952"/>
            <a:ext cx="640080" cy="320040"/>
          </a:xfrm>
          <a:prstGeom prst="rect">
            <a:avLst/>
          </a:prstGeom>
          <a:noFill/>
        </p:spPr>
        <p:txBody>
          <a:bodyPr wrap="none">
            <a:spAutoFit/>
          </a:bodyPr>
          <a:lstStyle/>
          <a:p>
            <a:pPr algn="r"/>
            <a:r>
              <a:rPr sz="1100" b="0" i="0">
                <a:solidFill>
                  <a:srgbClr val="8A8A8A"/>
                </a:solidFill>
                <a:latin typeface="微软雅黑"/>
                <a:ea typeface="微软雅黑"/>
              </a:rPr>
              <a:t>9 / 10</a:t>
            </a:r>
          </a:p>
        </p:txBody>
      </p:sp>
      <p:sp>
        <p:nvSpPr>
          <p:cNvPr id="5" name="TextBox 4"/>
          <p:cNvSpPr txBox="1"/>
          <p:nvPr/>
        </p:nvSpPr>
        <p:spPr>
          <a:xfrm>
            <a:off x="685800" y="1371600"/>
            <a:ext cx="10789920" cy="365760"/>
          </a:xfrm>
          <a:prstGeom prst="rect">
            <a:avLst/>
          </a:prstGeom>
          <a:noFill/>
        </p:spPr>
        <p:txBody>
          <a:bodyPr wrap="none">
            <a:spAutoFit/>
          </a:bodyPr>
          <a:lstStyle/>
          <a:p>
            <a:r>
              <a:rPr sz="1800" b="1" i="0">
                <a:solidFill>
                  <a:srgbClr val="1F2D50"/>
                </a:solidFill>
                <a:latin typeface="微软雅黑"/>
                <a:ea typeface="微软雅黑"/>
              </a:rPr>
              <a:t>预期成果</a:t>
            </a:r>
          </a:p>
        </p:txBody>
      </p:sp>
      <p:sp>
        <p:nvSpPr>
          <p:cNvPr id="6" name="TextBox 5"/>
          <p:cNvSpPr txBox="1"/>
          <p:nvPr/>
        </p:nvSpPr>
        <p:spPr>
          <a:xfrm>
            <a:off x="685800" y="1737360"/>
            <a:ext cx="10789920" cy="1057534"/>
          </a:xfrm>
          <a:prstGeom prst="rect">
            <a:avLst/>
          </a:prstGeom>
          <a:noFill/>
        </p:spPr>
        <p:txBody>
          <a:bodyPr wrap="square">
            <a:spAutoFit/>
          </a:bodyPr>
          <a:lstStyle/>
          <a:p>
            <a:pPr>
              <a:lnSpc>
                <a:spcPct val="125000"/>
              </a:lnSpc>
              <a:spcAft>
                <a:spcPts val="600"/>
              </a:spcAft>
            </a:pPr>
            <a:r>
              <a:rPr sz="1450" b="1" i="0" dirty="0">
                <a:solidFill>
                  <a:srgbClr val="1A1A1A"/>
                </a:solidFill>
                <a:latin typeface="微软雅黑"/>
                <a:ea typeface="微软雅黑"/>
              </a:rPr>
              <a:t>▪ </a:t>
            </a:r>
            <a:r>
              <a:rPr sz="1450" b="1" i="0" dirty="0" err="1">
                <a:solidFill>
                  <a:srgbClr val="1A1A1A"/>
                </a:solidFill>
                <a:latin typeface="微软雅黑"/>
                <a:ea typeface="微软雅黑"/>
              </a:rPr>
              <a:t>一篇系统阐述建模、深度强化学习求解方法与数值实验结果的</a:t>
            </a:r>
            <a:r>
              <a:rPr lang="zh-CN" altLang="en-US" sz="1450" b="1" i="0" dirty="0">
                <a:solidFill>
                  <a:srgbClr val="1A1A1A"/>
                </a:solidFill>
                <a:latin typeface="微软雅黑"/>
                <a:ea typeface="微软雅黑"/>
              </a:rPr>
              <a:t>工程管理</a:t>
            </a:r>
            <a:r>
              <a:rPr sz="1450" b="1" i="0" dirty="0" err="1">
                <a:solidFill>
                  <a:srgbClr val="1A1A1A"/>
                </a:solidFill>
                <a:latin typeface="微软雅黑"/>
                <a:ea typeface="微软雅黑"/>
              </a:rPr>
              <a:t>硕士学位论文</a:t>
            </a:r>
            <a:r>
              <a:rPr sz="1450" b="1" i="0" dirty="0">
                <a:solidFill>
                  <a:srgbClr val="1A1A1A"/>
                </a:solidFill>
                <a:latin typeface="微软雅黑"/>
                <a:ea typeface="微软雅黑"/>
              </a:rPr>
              <a:t>；</a:t>
            </a:r>
          </a:p>
          <a:p>
            <a:pPr>
              <a:lnSpc>
                <a:spcPct val="125000"/>
              </a:lnSpc>
              <a:spcAft>
                <a:spcPts val="600"/>
              </a:spcAft>
            </a:pPr>
            <a:r>
              <a:rPr sz="1450" b="1" i="0" dirty="0">
                <a:solidFill>
                  <a:srgbClr val="1A1A1A"/>
                </a:solidFill>
                <a:latin typeface="微软雅黑"/>
                <a:ea typeface="微软雅黑"/>
              </a:rPr>
              <a:t>▪ </a:t>
            </a:r>
            <a:r>
              <a:rPr sz="1450" b="1" i="0" dirty="0" err="1">
                <a:solidFill>
                  <a:srgbClr val="1A1A1A"/>
                </a:solidFill>
                <a:latin typeface="微软雅黑"/>
                <a:ea typeface="微软雅黑"/>
              </a:rPr>
              <a:t>一套可迁移部署的深度强化学习</a:t>
            </a:r>
            <a:r>
              <a:rPr lang="zh-CN" altLang="en-US" sz="1450" b="1" dirty="0">
                <a:solidFill>
                  <a:srgbClr val="1A1A1A"/>
                </a:solidFill>
                <a:latin typeface="微软雅黑"/>
                <a:ea typeface="微软雅黑"/>
              </a:rPr>
              <a:t>库存优化</a:t>
            </a:r>
            <a:r>
              <a:rPr sz="1450" b="1" i="0" dirty="0" err="1">
                <a:solidFill>
                  <a:srgbClr val="1A1A1A"/>
                </a:solidFill>
                <a:latin typeface="微软雅黑"/>
                <a:ea typeface="微软雅黑"/>
              </a:rPr>
              <a:t>策略，适用于传统动态规划方法难以稳定求解的高维、非平稳场景</a:t>
            </a:r>
            <a:r>
              <a:rPr sz="1450" b="1" i="0" dirty="0">
                <a:solidFill>
                  <a:srgbClr val="1A1A1A"/>
                </a:solidFill>
                <a:latin typeface="微软雅黑"/>
                <a:ea typeface="微软雅黑"/>
              </a:rPr>
              <a:t>；</a:t>
            </a:r>
          </a:p>
          <a:p>
            <a:pPr>
              <a:lnSpc>
                <a:spcPct val="125000"/>
              </a:lnSpc>
              <a:spcAft>
                <a:spcPts val="600"/>
              </a:spcAft>
            </a:pPr>
            <a:r>
              <a:rPr sz="1450" b="1" i="0" dirty="0">
                <a:solidFill>
                  <a:srgbClr val="1A1A1A"/>
                </a:solidFill>
                <a:latin typeface="微软雅黑"/>
                <a:ea typeface="微软雅黑"/>
              </a:rPr>
              <a:t>▪ </a:t>
            </a:r>
            <a:r>
              <a:rPr sz="1450" b="1" i="0" dirty="0" err="1">
                <a:solidFill>
                  <a:srgbClr val="1A1A1A"/>
                </a:solidFill>
                <a:latin typeface="微软雅黑"/>
                <a:ea typeface="微软雅黑"/>
              </a:rPr>
              <a:t>可复现的仿真实验代码与全参数网格实验数据集；面向医药、化工企业的管理启示与可投稿成果</a:t>
            </a:r>
            <a:r>
              <a:rPr sz="1450" b="1" i="0" dirty="0">
                <a:solidFill>
                  <a:srgbClr val="1A1A1A"/>
                </a:solidFill>
                <a:latin typeface="微软雅黑"/>
                <a:ea typeface="微软雅黑"/>
              </a:rPr>
              <a:t>。</a:t>
            </a:r>
          </a:p>
        </p:txBody>
      </p:sp>
      <p:sp>
        <p:nvSpPr>
          <p:cNvPr id="7" name="TextBox 6"/>
          <p:cNvSpPr txBox="1"/>
          <p:nvPr/>
        </p:nvSpPr>
        <p:spPr>
          <a:xfrm>
            <a:off x="685800" y="3520440"/>
            <a:ext cx="10789920" cy="365760"/>
          </a:xfrm>
          <a:prstGeom prst="rect">
            <a:avLst/>
          </a:prstGeom>
          <a:noFill/>
        </p:spPr>
        <p:txBody>
          <a:bodyPr wrap="none">
            <a:spAutoFit/>
          </a:bodyPr>
          <a:lstStyle/>
          <a:p>
            <a:r>
              <a:rPr sz="1800" b="1" i="0">
                <a:solidFill>
                  <a:srgbClr val="1F2D50"/>
                </a:solidFill>
                <a:latin typeface="微软雅黑"/>
                <a:ea typeface="微软雅黑"/>
              </a:rPr>
              <a:t>研究进度（2026.09—2027.07）</a:t>
            </a:r>
          </a:p>
        </p:txBody>
      </p:sp>
      <p:sp>
        <p:nvSpPr>
          <p:cNvPr id="8" name="Rounded Rectangle 7"/>
          <p:cNvSpPr/>
          <p:nvPr/>
        </p:nvSpPr>
        <p:spPr>
          <a:xfrm>
            <a:off x="444855" y="3977639"/>
            <a:ext cx="1481328" cy="548640"/>
          </a:xfrm>
          <a:prstGeom prst="roundRect">
            <a:avLst/>
          </a:prstGeom>
          <a:solidFill>
            <a:srgbClr val="1F2D50"/>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微软雅黑"/>
                <a:ea typeface="微软雅黑"/>
              </a:rPr>
              <a:t>26.09
-10</a:t>
            </a:r>
          </a:p>
        </p:txBody>
      </p:sp>
      <p:sp>
        <p:nvSpPr>
          <p:cNvPr id="9" name="Rounded Rectangle 8"/>
          <p:cNvSpPr/>
          <p:nvPr/>
        </p:nvSpPr>
        <p:spPr>
          <a:xfrm>
            <a:off x="444855" y="4636007"/>
            <a:ext cx="1481328" cy="868680"/>
          </a:xfrm>
          <a:prstGeom prst="roundRect">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050" b="0" i="0">
                <a:solidFill>
                  <a:srgbClr val="1A1A1A"/>
                </a:solidFill>
                <a:latin typeface="微软雅黑"/>
                <a:ea typeface="微软雅黑"/>
              </a:rPr>
              <a:t>选题报告
建模方案</a:t>
            </a:r>
          </a:p>
        </p:txBody>
      </p:sp>
      <p:cxnSp>
        <p:nvCxnSpPr>
          <p:cNvPr id="10" name="Connector 9"/>
          <p:cNvCxnSpPr/>
          <p:nvPr/>
        </p:nvCxnSpPr>
        <p:spPr>
          <a:xfrm>
            <a:off x="1926183" y="4251959"/>
            <a:ext cx="155448" cy="0"/>
          </a:xfrm>
          <a:prstGeom prst="line">
            <a:avLst/>
          </a:prstGeom>
          <a:ln w="19050">
            <a:solidFill>
              <a:srgbClr val="1F2D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081631" y="3977639"/>
            <a:ext cx="1481328" cy="548640"/>
          </a:xfrm>
          <a:prstGeom prst="roundRect">
            <a:avLst/>
          </a:prstGeom>
          <a:solidFill>
            <a:srgbClr val="1F2D50"/>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微软雅黑"/>
                <a:ea typeface="微软雅黑"/>
              </a:rPr>
              <a:t>26.10
-12</a:t>
            </a:r>
          </a:p>
        </p:txBody>
      </p:sp>
      <p:sp>
        <p:nvSpPr>
          <p:cNvPr id="12" name="Rounded Rectangle 11"/>
          <p:cNvSpPr/>
          <p:nvPr/>
        </p:nvSpPr>
        <p:spPr>
          <a:xfrm>
            <a:off x="2081631" y="4636007"/>
            <a:ext cx="1481328" cy="868680"/>
          </a:xfrm>
          <a:prstGeom prst="roundRect">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050" b="0" i="0">
                <a:solidFill>
                  <a:srgbClr val="1A1A1A"/>
                </a:solidFill>
                <a:latin typeface="微软雅黑"/>
                <a:ea typeface="微软雅黑"/>
              </a:rPr>
              <a:t>仿真环境与
基准代码</a:t>
            </a:r>
          </a:p>
        </p:txBody>
      </p:sp>
      <p:cxnSp>
        <p:nvCxnSpPr>
          <p:cNvPr id="13" name="Connector 12"/>
          <p:cNvCxnSpPr/>
          <p:nvPr/>
        </p:nvCxnSpPr>
        <p:spPr>
          <a:xfrm>
            <a:off x="3562959" y="4251959"/>
            <a:ext cx="155448" cy="0"/>
          </a:xfrm>
          <a:prstGeom prst="line">
            <a:avLst/>
          </a:prstGeom>
          <a:ln w="19050">
            <a:solidFill>
              <a:srgbClr val="1F2D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718407" y="3977639"/>
            <a:ext cx="1481328" cy="548640"/>
          </a:xfrm>
          <a:prstGeom prst="roundRect">
            <a:avLst/>
          </a:prstGeom>
          <a:solidFill>
            <a:srgbClr val="1F2D50"/>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微软雅黑"/>
                <a:ea typeface="微软雅黑"/>
              </a:rPr>
              <a:t>26.12
-27.01</a:t>
            </a:r>
          </a:p>
        </p:txBody>
      </p:sp>
      <p:sp>
        <p:nvSpPr>
          <p:cNvPr id="15" name="Rounded Rectangle 14"/>
          <p:cNvSpPr/>
          <p:nvPr/>
        </p:nvSpPr>
        <p:spPr>
          <a:xfrm>
            <a:off x="3718407" y="4636007"/>
            <a:ext cx="1481328" cy="868680"/>
          </a:xfrm>
          <a:prstGeom prst="roundRect">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050" b="0" i="0">
                <a:solidFill>
                  <a:srgbClr val="1A1A1A"/>
                </a:solidFill>
                <a:latin typeface="微软雅黑"/>
                <a:ea typeface="微软雅黑"/>
              </a:rPr>
              <a:t>DRL架构
初步训练</a:t>
            </a:r>
          </a:p>
        </p:txBody>
      </p:sp>
      <p:cxnSp>
        <p:nvCxnSpPr>
          <p:cNvPr id="16" name="Connector 15"/>
          <p:cNvCxnSpPr/>
          <p:nvPr/>
        </p:nvCxnSpPr>
        <p:spPr>
          <a:xfrm>
            <a:off x="5199735" y="4251959"/>
            <a:ext cx="155448" cy="0"/>
          </a:xfrm>
          <a:prstGeom prst="line">
            <a:avLst/>
          </a:prstGeom>
          <a:ln w="19050">
            <a:solidFill>
              <a:srgbClr val="1F2D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355183" y="3977639"/>
            <a:ext cx="1481328" cy="548640"/>
          </a:xfrm>
          <a:prstGeom prst="roundRect">
            <a:avLst/>
          </a:prstGeom>
          <a:solidFill>
            <a:srgbClr val="1F2D50"/>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微软雅黑"/>
                <a:ea typeface="微软雅黑"/>
              </a:rPr>
              <a:t>27.01
-02</a:t>
            </a:r>
          </a:p>
        </p:txBody>
      </p:sp>
      <p:sp>
        <p:nvSpPr>
          <p:cNvPr id="18" name="Rounded Rectangle 17"/>
          <p:cNvSpPr/>
          <p:nvPr/>
        </p:nvSpPr>
        <p:spPr>
          <a:xfrm>
            <a:off x="5355183" y="4636007"/>
            <a:ext cx="1481328" cy="868680"/>
          </a:xfrm>
          <a:prstGeom prst="roundRect">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050" b="0" i="0">
                <a:solidFill>
                  <a:srgbClr val="1A1A1A"/>
                </a:solidFill>
                <a:latin typeface="微软雅黑"/>
                <a:ea typeface="微软雅黑"/>
              </a:rPr>
              <a:t>全网格
数值实验</a:t>
            </a:r>
          </a:p>
        </p:txBody>
      </p:sp>
      <p:cxnSp>
        <p:nvCxnSpPr>
          <p:cNvPr id="19" name="Connector 18"/>
          <p:cNvCxnSpPr/>
          <p:nvPr/>
        </p:nvCxnSpPr>
        <p:spPr>
          <a:xfrm>
            <a:off x="6836511" y="4251959"/>
            <a:ext cx="155448" cy="0"/>
          </a:xfrm>
          <a:prstGeom prst="line">
            <a:avLst/>
          </a:prstGeom>
          <a:ln w="19050">
            <a:solidFill>
              <a:srgbClr val="1F2D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991959" y="3977639"/>
            <a:ext cx="1481328" cy="548640"/>
          </a:xfrm>
          <a:prstGeom prst="roundRect">
            <a:avLst/>
          </a:prstGeom>
          <a:solidFill>
            <a:srgbClr val="1F2D50"/>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微软雅黑"/>
                <a:ea typeface="微软雅黑"/>
              </a:rPr>
              <a:t>27.02
-03</a:t>
            </a:r>
          </a:p>
        </p:txBody>
      </p:sp>
      <p:sp>
        <p:nvSpPr>
          <p:cNvPr id="21" name="Rounded Rectangle 20"/>
          <p:cNvSpPr/>
          <p:nvPr/>
        </p:nvSpPr>
        <p:spPr>
          <a:xfrm>
            <a:off x="6991959" y="4636007"/>
            <a:ext cx="1481328" cy="868680"/>
          </a:xfrm>
          <a:prstGeom prst="roundRect">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050" b="0" i="0">
                <a:solidFill>
                  <a:srgbClr val="1A1A1A"/>
                </a:solidFill>
                <a:latin typeface="微软雅黑"/>
                <a:ea typeface="微软雅黑"/>
              </a:rPr>
              <a:t>消融实验
论文初稿</a:t>
            </a:r>
          </a:p>
        </p:txBody>
      </p:sp>
      <p:cxnSp>
        <p:nvCxnSpPr>
          <p:cNvPr id="22" name="Connector 21"/>
          <p:cNvCxnSpPr/>
          <p:nvPr/>
        </p:nvCxnSpPr>
        <p:spPr>
          <a:xfrm>
            <a:off x="8473287" y="4251959"/>
            <a:ext cx="155448" cy="0"/>
          </a:xfrm>
          <a:prstGeom prst="line">
            <a:avLst/>
          </a:prstGeom>
          <a:ln w="19050">
            <a:solidFill>
              <a:srgbClr val="1F2D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628735" y="3977639"/>
            <a:ext cx="1481328" cy="548640"/>
          </a:xfrm>
          <a:prstGeom prst="roundRect">
            <a:avLst/>
          </a:prstGeom>
          <a:solidFill>
            <a:srgbClr val="1F2D50"/>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微软雅黑"/>
                <a:ea typeface="微软雅黑"/>
              </a:rPr>
              <a:t>27.03
-05</a:t>
            </a:r>
          </a:p>
        </p:txBody>
      </p:sp>
      <p:sp>
        <p:nvSpPr>
          <p:cNvPr id="24" name="Rounded Rectangle 23"/>
          <p:cNvSpPr/>
          <p:nvPr/>
        </p:nvSpPr>
        <p:spPr>
          <a:xfrm>
            <a:off x="8628735" y="4636007"/>
            <a:ext cx="1481328" cy="868680"/>
          </a:xfrm>
          <a:prstGeom prst="roundRect">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050" b="0" i="0">
                <a:solidFill>
                  <a:srgbClr val="1A1A1A"/>
                </a:solidFill>
                <a:latin typeface="微软雅黑"/>
                <a:ea typeface="微软雅黑"/>
              </a:rPr>
              <a:t>中期检查
预答辩</a:t>
            </a:r>
          </a:p>
        </p:txBody>
      </p:sp>
      <p:cxnSp>
        <p:nvCxnSpPr>
          <p:cNvPr id="25" name="Connector 24"/>
          <p:cNvCxnSpPr/>
          <p:nvPr/>
        </p:nvCxnSpPr>
        <p:spPr>
          <a:xfrm>
            <a:off x="10110063" y="4251959"/>
            <a:ext cx="155448" cy="0"/>
          </a:xfrm>
          <a:prstGeom prst="line">
            <a:avLst/>
          </a:prstGeom>
          <a:ln w="19050">
            <a:solidFill>
              <a:srgbClr val="1F2D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0265511" y="3977639"/>
            <a:ext cx="1481328" cy="548640"/>
          </a:xfrm>
          <a:prstGeom prst="roundRect">
            <a:avLst/>
          </a:prstGeom>
          <a:solidFill>
            <a:srgbClr val="1F2D50"/>
          </a:solidFill>
          <a:ln w="15875">
            <a:solidFill>
              <a:srgbClr val="1F2D50"/>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微软雅黑"/>
                <a:ea typeface="微软雅黑"/>
              </a:rPr>
              <a:t>27.05
-07</a:t>
            </a:r>
          </a:p>
        </p:txBody>
      </p:sp>
      <p:sp>
        <p:nvSpPr>
          <p:cNvPr id="27" name="Rounded Rectangle 26"/>
          <p:cNvSpPr/>
          <p:nvPr/>
        </p:nvSpPr>
        <p:spPr>
          <a:xfrm>
            <a:off x="10265511" y="4636007"/>
            <a:ext cx="1481328" cy="868680"/>
          </a:xfrm>
          <a:prstGeom prst="roundRect">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050" b="0" i="0">
                <a:solidFill>
                  <a:srgbClr val="1A1A1A"/>
                </a:solidFill>
                <a:latin typeface="微软雅黑"/>
                <a:ea typeface="微软雅黑"/>
              </a:rPr>
              <a:t>定稿
答辩</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640080"/>
          </a:xfrm>
          <a:prstGeom prst="rect">
            <a:avLst/>
          </a:prstGeom>
          <a:noFill/>
        </p:spPr>
        <p:txBody>
          <a:bodyPr wrap="none">
            <a:spAutoFit/>
          </a:bodyPr>
          <a:lstStyle/>
          <a:p>
            <a:r>
              <a:rPr sz="2400" b="1">
                <a:solidFill>
                  <a:srgbClr val="1F2D50"/>
                </a:solidFill>
                <a:latin typeface="微软雅黑"/>
                <a:ea typeface="微软雅黑"/>
              </a:rPr>
              <a:t>九、主要参考文献</a:t>
            </a:r>
          </a:p>
        </p:txBody>
      </p:sp>
      <p:cxnSp>
        <p:nvCxnSpPr>
          <p:cNvPr id="4" name="Connector 3"/>
          <p:cNvCxnSpPr/>
          <p:nvPr/>
        </p:nvCxnSpPr>
        <p:spPr>
          <a:xfrm>
            <a:off x="548640" y="1188720"/>
            <a:ext cx="11091672" cy="0"/>
          </a:xfrm>
          <a:prstGeom prst="line">
            <a:avLst/>
          </a:prstGeom>
          <a:ln w="15875">
            <a:solidFill>
              <a:srgbClr val="1F2D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1371600"/>
            <a:ext cx="3611880" cy="5424242"/>
          </a:xfrm>
          <a:prstGeom prst="rect">
            <a:avLst/>
          </a:prstGeom>
          <a:noFill/>
        </p:spPr>
        <p:txBody>
          <a:bodyPr wrap="square">
            <a:spAutoFit/>
          </a:bodyPr>
          <a:lstStyle/>
          <a:p>
            <a:pPr>
              <a:spcAft>
                <a:spcPts val="600"/>
              </a:spcAft>
            </a:pPr>
            <a:r>
              <a:rPr sz="1300" b="1" dirty="0" err="1">
                <a:solidFill>
                  <a:srgbClr val="1F2D50"/>
                </a:solidFill>
                <a:latin typeface="微软雅黑"/>
                <a:ea typeface="微软雅黑"/>
              </a:rPr>
              <a:t>深度强化学习与库存／运营管理</a:t>
            </a:r>
            <a:endParaRPr sz="1300" b="1" dirty="0">
              <a:solidFill>
                <a:srgbClr val="1F2D50"/>
              </a:solidFill>
              <a:latin typeface="微软雅黑"/>
              <a:ea typeface="微软雅黑"/>
            </a:endParaRP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Boute</a:t>
            </a:r>
            <a:r>
              <a:rPr sz="900" b="0" dirty="0">
                <a:solidFill>
                  <a:srgbClr val="1A1A1A"/>
                </a:solidFill>
                <a:latin typeface="微软雅黑"/>
                <a:ea typeface="微软雅黑"/>
              </a:rPr>
              <a:t> R N, </a:t>
            </a:r>
            <a:r>
              <a:rPr sz="900" b="0" dirty="0" err="1">
                <a:solidFill>
                  <a:srgbClr val="1A1A1A"/>
                </a:solidFill>
                <a:latin typeface="微软雅黑"/>
                <a:ea typeface="微软雅黑"/>
              </a:rPr>
              <a:t>Gijsbrechts</a:t>
            </a:r>
            <a:r>
              <a:rPr sz="900" b="0" dirty="0">
                <a:solidFill>
                  <a:srgbClr val="1A1A1A"/>
                </a:solidFill>
                <a:latin typeface="微软雅黑"/>
                <a:ea typeface="微软雅黑"/>
              </a:rPr>
              <a:t> J, van Jaarsveld W, </a:t>
            </a:r>
            <a:r>
              <a:rPr sz="900" b="0" dirty="0" err="1">
                <a:solidFill>
                  <a:srgbClr val="1A1A1A"/>
                </a:solidFill>
                <a:latin typeface="微软雅黑"/>
                <a:ea typeface="微软雅黑"/>
              </a:rPr>
              <a:t>Vanvuchelen</a:t>
            </a:r>
            <a:r>
              <a:rPr sz="900" b="0" dirty="0">
                <a:solidFill>
                  <a:srgbClr val="1A1A1A"/>
                </a:solidFill>
                <a:latin typeface="微软雅黑"/>
                <a:ea typeface="微软雅黑"/>
              </a:rPr>
              <a:t> N. Deep reinforcement learning for inventory control: A roadmap[J]. EJOR, 2022, 298(2): 401-412.</a:t>
            </a: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Gijsbrechts</a:t>
            </a:r>
            <a:r>
              <a:rPr sz="900" b="0" dirty="0">
                <a:solidFill>
                  <a:srgbClr val="1A1A1A"/>
                </a:solidFill>
                <a:latin typeface="微软雅黑"/>
                <a:ea typeface="微软雅黑"/>
              </a:rPr>
              <a:t> J, </a:t>
            </a:r>
            <a:r>
              <a:rPr sz="900" b="0" dirty="0" err="1">
                <a:solidFill>
                  <a:srgbClr val="1A1A1A"/>
                </a:solidFill>
                <a:latin typeface="微软雅黑"/>
                <a:ea typeface="微软雅黑"/>
              </a:rPr>
              <a:t>Boute</a:t>
            </a:r>
            <a:r>
              <a:rPr sz="900" b="0" dirty="0">
                <a:solidFill>
                  <a:srgbClr val="1A1A1A"/>
                </a:solidFill>
                <a:latin typeface="微软雅黑"/>
                <a:ea typeface="微软雅黑"/>
              </a:rPr>
              <a:t> R N, Van </a:t>
            </a:r>
            <a:r>
              <a:rPr sz="900" b="0" dirty="0" err="1">
                <a:solidFill>
                  <a:srgbClr val="1A1A1A"/>
                </a:solidFill>
                <a:latin typeface="微软雅黑"/>
                <a:ea typeface="微软雅黑"/>
              </a:rPr>
              <a:t>Mieghem</a:t>
            </a:r>
            <a:r>
              <a:rPr sz="900" b="0" dirty="0">
                <a:solidFill>
                  <a:srgbClr val="1A1A1A"/>
                </a:solidFill>
                <a:latin typeface="微软雅黑"/>
                <a:ea typeface="微软雅黑"/>
              </a:rPr>
              <a:t> J A, Zhang D J. Can deep reinforcement learning improve inventory management? Performance on lost sales, dual-sourcing, and multi-echelon problems[J]. M&amp;SOM, 2022, 24(3): 1349-1368.</a:t>
            </a: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Oroojlooyjadid</a:t>
            </a:r>
            <a:r>
              <a:rPr sz="900" b="0" dirty="0">
                <a:solidFill>
                  <a:srgbClr val="1A1A1A"/>
                </a:solidFill>
                <a:latin typeface="微软雅黑"/>
                <a:ea typeface="微软雅黑"/>
              </a:rPr>
              <a:t> A, Nazari M, Snyder L V, Takáč M. A deep Q-network for the beer game[J]. M&amp;SOM, 2022, 24(1): 285-304.</a:t>
            </a:r>
          </a:p>
          <a:p>
            <a:pPr>
              <a:lnSpc>
                <a:spcPct val="108000"/>
              </a:lnSpc>
              <a:spcAft>
                <a:spcPts val="500"/>
              </a:spcAft>
            </a:pPr>
            <a:r>
              <a:rPr sz="900" b="0" dirty="0">
                <a:solidFill>
                  <a:srgbClr val="1A1A1A"/>
                </a:solidFill>
                <a:latin typeface="微软雅黑"/>
                <a:ea typeface="微软雅黑"/>
              </a:rPr>
              <a:t>· De Moor B J, </a:t>
            </a:r>
            <a:r>
              <a:rPr sz="900" b="0" dirty="0" err="1">
                <a:solidFill>
                  <a:srgbClr val="1A1A1A"/>
                </a:solidFill>
                <a:latin typeface="微软雅黑"/>
                <a:ea typeface="微软雅黑"/>
              </a:rPr>
              <a:t>Gijsbrechts</a:t>
            </a:r>
            <a:r>
              <a:rPr sz="900" b="0" dirty="0">
                <a:solidFill>
                  <a:srgbClr val="1A1A1A"/>
                </a:solidFill>
                <a:latin typeface="微软雅黑"/>
                <a:ea typeface="微软雅黑"/>
              </a:rPr>
              <a:t> J, </a:t>
            </a:r>
            <a:r>
              <a:rPr sz="900" b="0" dirty="0" err="1">
                <a:solidFill>
                  <a:srgbClr val="1A1A1A"/>
                </a:solidFill>
                <a:latin typeface="微软雅黑"/>
                <a:ea typeface="微软雅黑"/>
              </a:rPr>
              <a:t>Boute</a:t>
            </a:r>
            <a:r>
              <a:rPr sz="900" b="0" dirty="0">
                <a:solidFill>
                  <a:srgbClr val="1A1A1A"/>
                </a:solidFill>
                <a:latin typeface="微软雅黑"/>
                <a:ea typeface="微软雅黑"/>
              </a:rPr>
              <a:t> R N. Reward shaping to improve the performance of deep reinforcement learning in perishable inventory management[J]. EJOR, 2022, 301(2): 535-545.</a:t>
            </a: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Kaynov</a:t>
            </a:r>
            <a:r>
              <a:rPr sz="900" b="0" dirty="0">
                <a:solidFill>
                  <a:srgbClr val="1A1A1A"/>
                </a:solidFill>
                <a:latin typeface="微软雅黑"/>
                <a:ea typeface="微软雅黑"/>
              </a:rPr>
              <a:t> I, van Knippenberg M, </a:t>
            </a:r>
            <a:r>
              <a:rPr sz="900" b="0" dirty="0" err="1">
                <a:solidFill>
                  <a:srgbClr val="1A1A1A"/>
                </a:solidFill>
                <a:latin typeface="微软雅黑"/>
                <a:ea typeface="微软雅黑"/>
              </a:rPr>
              <a:t>Menkovski</a:t>
            </a:r>
            <a:r>
              <a:rPr sz="900" b="0" dirty="0">
                <a:solidFill>
                  <a:srgbClr val="1A1A1A"/>
                </a:solidFill>
                <a:latin typeface="微软雅黑"/>
                <a:ea typeface="微软雅黑"/>
              </a:rPr>
              <a:t> V, van </a:t>
            </a:r>
            <a:r>
              <a:rPr sz="900" b="0" dirty="0" err="1">
                <a:solidFill>
                  <a:srgbClr val="1A1A1A"/>
                </a:solidFill>
                <a:latin typeface="微软雅黑"/>
                <a:ea typeface="微软雅黑"/>
              </a:rPr>
              <a:t>Breemen</a:t>
            </a:r>
            <a:r>
              <a:rPr sz="900" b="0" dirty="0">
                <a:solidFill>
                  <a:srgbClr val="1A1A1A"/>
                </a:solidFill>
                <a:latin typeface="微软雅黑"/>
                <a:ea typeface="微软雅黑"/>
              </a:rPr>
              <a:t> A, van Jaarsveld W. Deep reinforcement learning for one-warehouse multi-retailer inventory management[J]. Int. J. Production Economics, 2024, 267: 109088.</a:t>
            </a:r>
          </a:p>
          <a:p>
            <a:pPr>
              <a:lnSpc>
                <a:spcPct val="108000"/>
              </a:lnSpc>
              <a:spcAft>
                <a:spcPts val="500"/>
              </a:spcAft>
            </a:pPr>
            <a:r>
              <a:rPr sz="900" b="0" dirty="0">
                <a:solidFill>
                  <a:srgbClr val="1A1A1A"/>
                </a:solidFill>
                <a:latin typeface="微软雅黑"/>
                <a:ea typeface="微软雅黑"/>
              </a:rPr>
              <a:t>· Wang Y, Minner S. Deep reinforcement learning for demand fulfillment in online retail[J]. Int. J. Production Economics, 2024, 269: 109133.</a:t>
            </a:r>
          </a:p>
          <a:p>
            <a:pPr>
              <a:lnSpc>
                <a:spcPct val="108000"/>
              </a:lnSpc>
              <a:spcAft>
                <a:spcPts val="500"/>
              </a:spcAft>
            </a:pPr>
            <a:r>
              <a:rPr sz="900" b="0" dirty="0">
                <a:solidFill>
                  <a:srgbClr val="1A1A1A"/>
                </a:solidFill>
                <a:latin typeface="微软雅黑"/>
                <a:ea typeface="微软雅黑"/>
              </a:rPr>
              <a:t>· Mao W, Zhang K, Zhu R, </a:t>
            </a:r>
            <a:r>
              <a:rPr sz="900" b="0" dirty="0" err="1">
                <a:solidFill>
                  <a:srgbClr val="1A1A1A"/>
                </a:solidFill>
                <a:latin typeface="微软雅黑"/>
                <a:ea typeface="微软雅黑"/>
              </a:rPr>
              <a:t>Simchi</a:t>
            </a:r>
            <a:r>
              <a:rPr sz="900" b="0" dirty="0">
                <a:solidFill>
                  <a:srgbClr val="1A1A1A"/>
                </a:solidFill>
                <a:latin typeface="微软雅黑"/>
                <a:ea typeface="微软雅黑"/>
              </a:rPr>
              <a:t>-Levi D, Başar T. Model-free nonstationary reinforcement learning[J]. Management Science, 2024.</a:t>
            </a: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Dehaybe</a:t>
            </a:r>
            <a:r>
              <a:rPr sz="900" b="0" dirty="0">
                <a:solidFill>
                  <a:srgbClr val="1A1A1A"/>
                </a:solidFill>
                <a:latin typeface="微软雅黑"/>
                <a:ea typeface="微软雅黑"/>
              </a:rPr>
              <a:t> H, Catanzaro D, Chevalier P. Deep reinforcement learning for inventory optimization with non-stationary uncertain demand[J]. EJOR, 2023.</a:t>
            </a: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王孟雅</a:t>
            </a:r>
            <a:r>
              <a:rPr sz="900" b="0" dirty="0">
                <a:solidFill>
                  <a:srgbClr val="1A1A1A"/>
                </a:solidFill>
                <a:latin typeface="微软雅黑"/>
                <a:ea typeface="微软雅黑"/>
              </a:rPr>
              <a:t>, </a:t>
            </a:r>
            <a:r>
              <a:rPr sz="900" b="0" dirty="0" err="1">
                <a:solidFill>
                  <a:srgbClr val="1A1A1A"/>
                </a:solidFill>
                <a:latin typeface="微软雅黑"/>
                <a:ea typeface="微软雅黑"/>
              </a:rPr>
              <a:t>陈震</a:t>
            </a:r>
            <a:r>
              <a:rPr sz="900" b="0" dirty="0">
                <a:solidFill>
                  <a:srgbClr val="1A1A1A"/>
                </a:solidFill>
                <a:latin typeface="微软雅黑"/>
                <a:ea typeface="微软雅黑"/>
              </a:rPr>
              <a:t>, </a:t>
            </a:r>
            <a:r>
              <a:rPr sz="900" b="0" dirty="0" err="1">
                <a:solidFill>
                  <a:srgbClr val="1A1A1A"/>
                </a:solidFill>
                <a:latin typeface="微软雅黑"/>
                <a:ea typeface="微软雅黑"/>
              </a:rPr>
              <a:t>潘尔顺</a:t>
            </a:r>
            <a:r>
              <a:rPr sz="900" b="0" dirty="0">
                <a:solidFill>
                  <a:srgbClr val="1A1A1A"/>
                </a:solidFill>
                <a:latin typeface="微软雅黑"/>
                <a:ea typeface="微软雅黑"/>
              </a:rPr>
              <a:t>. </a:t>
            </a:r>
            <a:r>
              <a:rPr sz="900" b="0" dirty="0" err="1">
                <a:solidFill>
                  <a:srgbClr val="1A1A1A"/>
                </a:solidFill>
                <a:latin typeface="微软雅黑"/>
                <a:ea typeface="微软雅黑"/>
              </a:rPr>
              <a:t>基于马尔科夫决策的冷贮备串联系统状态维修与备件联合优化</a:t>
            </a:r>
            <a:r>
              <a:rPr sz="900" b="0" dirty="0">
                <a:solidFill>
                  <a:srgbClr val="1A1A1A"/>
                </a:solidFill>
                <a:latin typeface="微软雅黑"/>
                <a:ea typeface="微软雅黑"/>
              </a:rPr>
              <a:t>[J]. </a:t>
            </a:r>
            <a:r>
              <a:rPr sz="900" b="0" dirty="0" err="1">
                <a:solidFill>
                  <a:srgbClr val="1A1A1A"/>
                </a:solidFill>
                <a:latin typeface="微软雅黑"/>
                <a:ea typeface="微软雅黑"/>
              </a:rPr>
              <a:t>工业工程与管理</a:t>
            </a:r>
            <a:r>
              <a:rPr sz="900" b="0" dirty="0">
                <a:solidFill>
                  <a:srgbClr val="1A1A1A"/>
                </a:solidFill>
                <a:latin typeface="微软雅黑"/>
                <a:ea typeface="微软雅黑"/>
              </a:rPr>
              <a:t>, 2022: 1-16.</a:t>
            </a: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邵思淇</a:t>
            </a:r>
            <a:r>
              <a:rPr sz="900" b="0" dirty="0">
                <a:solidFill>
                  <a:srgbClr val="1A1A1A"/>
                </a:solidFill>
                <a:latin typeface="微软雅黑"/>
                <a:ea typeface="微软雅黑"/>
              </a:rPr>
              <a:t>, </a:t>
            </a:r>
            <a:r>
              <a:rPr sz="900" b="0" dirty="0" err="1">
                <a:solidFill>
                  <a:srgbClr val="1A1A1A"/>
                </a:solidFill>
                <a:latin typeface="微软雅黑"/>
                <a:ea typeface="微软雅黑"/>
              </a:rPr>
              <a:t>钟远光</a:t>
            </a:r>
            <a:r>
              <a:rPr sz="900" b="0" dirty="0">
                <a:solidFill>
                  <a:srgbClr val="1A1A1A"/>
                </a:solidFill>
                <a:latin typeface="微软雅黑"/>
                <a:ea typeface="微软雅黑"/>
              </a:rPr>
              <a:t>, </a:t>
            </a:r>
            <a:r>
              <a:rPr sz="900" b="0" dirty="0" err="1">
                <a:solidFill>
                  <a:srgbClr val="1A1A1A"/>
                </a:solidFill>
                <a:latin typeface="微软雅黑"/>
                <a:ea typeface="微软雅黑"/>
              </a:rPr>
              <a:t>陈植</a:t>
            </a:r>
            <a:r>
              <a:rPr sz="900" b="0" dirty="0">
                <a:solidFill>
                  <a:srgbClr val="1A1A1A"/>
                </a:solidFill>
                <a:latin typeface="微软雅黑"/>
                <a:ea typeface="微软雅黑"/>
              </a:rPr>
              <a:t>, </a:t>
            </a:r>
            <a:r>
              <a:rPr sz="900" b="0" dirty="0" err="1">
                <a:solidFill>
                  <a:srgbClr val="1A1A1A"/>
                </a:solidFill>
                <a:latin typeface="微软雅黑"/>
                <a:ea typeface="微软雅黑"/>
              </a:rPr>
              <a:t>李延希</a:t>
            </a:r>
            <a:r>
              <a:rPr sz="900" b="0" dirty="0">
                <a:solidFill>
                  <a:srgbClr val="1A1A1A"/>
                </a:solidFill>
                <a:latin typeface="微软雅黑"/>
                <a:ea typeface="微软雅黑"/>
              </a:rPr>
              <a:t>. </a:t>
            </a:r>
            <a:r>
              <a:rPr sz="900" b="0" dirty="0" err="1">
                <a:solidFill>
                  <a:srgbClr val="1A1A1A"/>
                </a:solidFill>
                <a:latin typeface="微软雅黑"/>
                <a:ea typeface="微软雅黑"/>
              </a:rPr>
              <a:t>基于需求不确定性的数据驱动库存管理研究综述</a:t>
            </a:r>
            <a:r>
              <a:rPr sz="900" b="0" dirty="0">
                <a:solidFill>
                  <a:srgbClr val="1A1A1A"/>
                </a:solidFill>
                <a:latin typeface="微软雅黑"/>
                <a:ea typeface="微软雅黑"/>
              </a:rPr>
              <a:t>[J]. </a:t>
            </a:r>
            <a:r>
              <a:rPr sz="900" b="0" dirty="0" err="1">
                <a:solidFill>
                  <a:srgbClr val="1A1A1A"/>
                </a:solidFill>
                <a:latin typeface="微软雅黑"/>
                <a:ea typeface="微软雅黑"/>
              </a:rPr>
              <a:t>工业工程</a:t>
            </a:r>
            <a:r>
              <a:rPr sz="900" b="0" dirty="0">
                <a:solidFill>
                  <a:srgbClr val="1A1A1A"/>
                </a:solidFill>
                <a:latin typeface="微软雅黑"/>
                <a:ea typeface="微软雅黑"/>
              </a:rPr>
              <a:t>, 2024, 27(3): 1-11.</a:t>
            </a:r>
          </a:p>
        </p:txBody>
      </p:sp>
      <p:sp>
        <p:nvSpPr>
          <p:cNvPr id="6" name="TextBox 5"/>
          <p:cNvSpPr txBox="1"/>
          <p:nvPr/>
        </p:nvSpPr>
        <p:spPr>
          <a:xfrm>
            <a:off x="4297680" y="1371600"/>
            <a:ext cx="3611880" cy="5349240"/>
          </a:xfrm>
          <a:prstGeom prst="rect">
            <a:avLst/>
          </a:prstGeom>
          <a:noFill/>
        </p:spPr>
        <p:txBody>
          <a:bodyPr wrap="square">
            <a:spAutoFit/>
          </a:bodyPr>
          <a:lstStyle/>
          <a:p>
            <a:pPr>
              <a:spcAft>
                <a:spcPts val="600"/>
              </a:spcAft>
            </a:pPr>
            <a:r>
              <a:rPr sz="1300" b="1" dirty="0" err="1">
                <a:solidFill>
                  <a:srgbClr val="1F2D50"/>
                </a:solidFill>
                <a:latin typeface="微软雅黑"/>
                <a:ea typeface="微软雅黑"/>
              </a:rPr>
              <a:t>双源采购与供应中断管理</a:t>
            </a:r>
            <a:endParaRPr sz="1300" b="1" dirty="0">
              <a:solidFill>
                <a:srgbClr val="1F2D50"/>
              </a:solidFill>
              <a:latin typeface="微软雅黑"/>
              <a:ea typeface="微软雅黑"/>
            </a:endParaRPr>
          </a:p>
          <a:p>
            <a:pPr>
              <a:lnSpc>
                <a:spcPct val="108000"/>
              </a:lnSpc>
              <a:spcAft>
                <a:spcPts val="500"/>
              </a:spcAft>
            </a:pPr>
            <a:r>
              <a:rPr sz="900" b="0" dirty="0">
                <a:solidFill>
                  <a:srgbClr val="1A1A1A"/>
                </a:solidFill>
                <a:latin typeface="微软雅黑"/>
                <a:ea typeface="微软雅黑"/>
              </a:rPr>
              <a:t>· Wang Y, Gilland W, Tomlin B. Mitigating supply risk: Dual sourcing or process improvement?[J]. M&amp;SOM, 2010, 12(3): 489-510.</a:t>
            </a:r>
          </a:p>
          <a:p>
            <a:pPr>
              <a:lnSpc>
                <a:spcPct val="108000"/>
              </a:lnSpc>
              <a:spcAft>
                <a:spcPts val="500"/>
              </a:spcAft>
            </a:pPr>
            <a:r>
              <a:rPr sz="900" b="0" dirty="0">
                <a:solidFill>
                  <a:srgbClr val="1A1A1A"/>
                </a:solidFill>
                <a:latin typeface="微软雅黑"/>
                <a:ea typeface="微软雅黑"/>
              </a:rPr>
              <a:t>· Tang S Y, Gurnani H, Gupta D. Managing disruptions in decentralized supply chains with endogenous supply process reliability[J]. POM, 2014, 23(7): 1198-1211.</a:t>
            </a: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Federgruen</a:t>
            </a:r>
            <a:r>
              <a:rPr sz="900" b="0" dirty="0">
                <a:solidFill>
                  <a:srgbClr val="1A1A1A"/>
                </a:solidFill>
                <a:latin typeface="微软雅黑"/>
                <a:ea typeface="微软雅黑"/>
              </a:rPr>
              <a:t> A, Yang N. Procurement strategies with unreliable suppliers[J]. Operations Research, 2011, 59(4): 1033-1039.</a:t>
            </a: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DeCroix</a:t>
            </a:r>
            <a:r>
              <a:rPr sz="900" b="0" dirty="0">
                <a:solidFill>
                  <a:srgbClr val="1A1A1A"/>
                </a:solidFill>
                <a:latin typeface="微软雅黑"/>
                <a:ea typeface="微软雅黑"/>
              </a:rPr>
              <a:t> G A. Inventory management for an assembly system subject to supply disruptions[J]. Management Science, 2013, 59(9): 2079-2092.</a:t>
            </a: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Kouvelis</a:t>
            </a:r>
            <a:r>
              <a:rPr sz="900" b="0" dirty="0">
                <a:solidFill>
                  <a:srgbClr val="1A1A1A"/>
                </a:solidFill>
                <a:latin typeface="微软雅黑"/>
                <a:ea typeface="微软雅黑"/>
              </a:rPr>
              <a:t> P, Xiao G, Yang N. On the properties of yield distributions in random yield problems[J]. POM, 2018, 27(7): 1291-1302.</a:t>
            </a:r>
          </a:p>
          <a:p>
            <a:pPr>
              <a:lnSpc>
                <a:spcPct val="108000"/>
              </a:lnSpc>
              <a:spcAft>
                <a:spcPts val="500"/>
              </a:spcAft>
            </a:pPr>
            <a:r>
              <a:rPr sz="900" b="0" dirty="0">
                <a:solidFill>
                  <a:srgbClr val="1A1A1A"/>
                </a:solidFill>
                <a:latin typeface="微软雅黑"/>
                <a:ea typeface="微软雅黑"/>
              </a:rPr>
              <a:t>· Yuan X, Bi G, Fei Y, Liu L. Supply chain with random yield and financing[J]. Omega, 2021, 102: 102334.</a:t>
            </a:r>
          </a:p>
          <a:p>
            <a:pPr>
              <a:lnSpc>
                <a:spcPct val="108000"/>
              </a:lnSpc>
              <a:spcAft>
                <a:spcPts val="500"/>
              </a:spcAft>
            </a:pPr>
            <a:r>
              <a:rPr sz="900" b="0" dirty="0">
                <a:solidFill>
                  <a:srgbClr val="1A1A1A"/>
                </a:solidFill>
                <a:latin typeface="微软雅黑"/>
                <a:ea typeface="微软雅黑"/>
              </a:rPr>
              <a:t>· Bu J, Gong X, Yao D. Constant-order policies for lost-sales inventory models with random supply functions[J]. Operations Research, 2020, 68(4): 1063-1073.</a:t>
            </a: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陈崇萍</a:t>
            </a:r>
            <a:r>
              <a:rPr sz="900" b="0" dirty="0">
                <a:solidFill>
                  <a:srgbClr val="1A1A1A"/>
                </a:solidFill>
                <a:latin typeface="微软雅黑"/>
                <a:ea typeface="微软雅黑"/>
              </a:rPr>
              <a:t>, </a:t>
            </a:r>
            <a:r>
              <a:rPr sz="900" b="0" dirty="0" err="1">
                <a:solidFill>
                  <a:srgbClr val="1A1A1A"/>
                </a:solidFill>
                <a:latin typeface="微软雅黑"/>
                <a:ea typeface="微软雅黑"/>
              </a:rPr>
              <a:t>陈志祥</a:t>
            </a:r>
            <a:r>
              <a:rPr sz="900" b="0" dirty="0">
                <a:solidFill>
                  <a:srgbClr val="1A1A1A"/>
                </a:solidFill>
                <a:latin typeface="微软雅黑"/>
                <a:ea typeface="微软雅黑"/>
              </a:rPr>
              <a:t>. </a:t>
            </a:r>
            <a:r>
              <a:rPr sz="900" b="0" dirty="0" err="1">
                <a:solidFill>
                  <a:srgbClr val="1A1A1A"/>
                </a:solidFill>
                <a:latin typeface="微软雅黑"/>
                <a:ea typeface="微软雅黑"/>
              </a:rPr>
              <a:t>供应商产出随机与供应中断下的双源采购决策</a:t>
            </a:r>
            <a:r>
              <a:rPr sz="900" b="0" dirty="0">
                <a:solidFill>
                  <a:srgbClr val="1A1A1A"/>
                </a:solidFill>
                <a:latin typeface="微软雅黑"/>
                <a:ea typeface="微软雅黑"/>
              </a:rPr>
              <a:t>[J]. </a:t>
            </a:r>
            <a:r>
              <a:rPr sz="900" b="0" dirty="0" err="1">
                <a:solidFill>
                  <a:srgbClr val="1A1A1A"/>
                </a:solidFill>
                <a:latin typeface="微软雅黑"/>
                <a:ea typeface="微软雅黑"/>
              </a:rPr>
              <a:t>中国管理科学</a:t>
            </a:r>
            <a:r>
              <a:rPr sz="900" b="0" dirty="0">
                <a:solidFill>
                  <a:srgbClr val="1A1A1A"/>
                </a:solidFill>
                <a:latin typeface="微软雅黑"/>
                <a:ea typeface="微软雅黑"/>
              </a:rPr>
              <a:t>, 2019, 27(6): 113-122.</a:t>
            </a: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王军进</a:t>
            </a:r>
            <a:r>
              <a:rPr sz="900" b="0" dirty="0">
                <a:solidFill>
                  <a:srgbClr val="1A1A1A"/>
                </a:solidFill>
                <a:latin typeface="微软雅黑"/>
                <a:ea typeface="微软雅黑"/>
              </a:rPr>
              <a:t>, </a:t>
            </a:r>
            <a:r>
              <a:rPr sz="900" b="0" dirty="0" err="1">
                <a:solidFill>
                  <a:srgbClr val="1A1A1A"/>
                </a:solidFill>
                <a:latin typeface="微软雅黑"/>
                <a:ea typeface="微软雅黑"/>
              </a:rPr>
              <a:t>张白羽</a:t>
            </a:r>
            <a:r>
              <a:rPr sz="900" b="0" dirty="0">
                <a:solidFill>
                  <a:srgbClr val="1A1A1A"/>
                </a:solidFill>
                <a:latin typeface="微软雅黑"/>
                <a:ea typeface="微软雅黑"/>
              </a:rPr>
              <a:t>, </a:t>
            </a:r>
            <a:r>
              <a:rPr sz="900" b="0" dirty="0" err="1">
                <a:solidFill>
                  <a:srgbClr val="1A1A1A"/>
                </a:solidFill>
                <a:latin typeface="微软雅黑"/>
                <a:ea typeface="微软雅黑"/>
              </a:rPr>
              <a:t>刘家国</a:t>
            </a:r>
            <a:r>
              <a:rPr sz="900" b="0" dirty="0">
                <a:solidFill>
                  <a:srgbClr val="1A1A1A"/>
                </a:solidFill>
                <a:latin typeface="微软雅黑"/>
                <a:ea typeface="微软雅黑"/>
              </a:rPr>
              <a:t>. </a:t>
            </a:r>
            <a:r>
              <a:rPr sz="900" b="0" dirty="0" err="1">
                <a:solidFill>
                  <a:srgbClr val="1A1A1A"/>
                </a:solidFill>
                <a:latin typeface="微软雅黑"/>
                <a:ea typeface="微软雅黑"/>
              </a:rPr>
              <a:t>供应中断风险下具有质量差异的产品组合定价与采购策略</a:t>
            </a:r>
            <a:r>
              <a:rPr sz="900" b="0" dirty="0">
                <a:solidFill>
                  <a:srgbClr val="1A1A1A"/>
                </a:solidFill>
                <a:latin typeface="微软雅黑"/>
                <a:ea typeface="微软雅黑"/>
              </a:rPr>
              <a:t>[J]. </a:t>
            </a:r>
            <a:r>
              <a:rPr sz="900" b="0" dirty="0" err="1">
                <a:solidFill>
                  <a:srgbClr val="1A1A1A"/>
                </a:solidFill>
                <a:latin typeface="微软雅黑"/>
                <a:ea typeface="微软雅黑"/>
              </a:rPr>
              <a:t>系统工程理论与实践</a:t>
            </a:r>
            <a:r>
              <a:rPr sz="900" b="0" dirty="0">
                <a:solidFill>
                  <a:srgbClr val="1A1A1A"/>
                </a:solidFill>
                <a:latin typeface="微软雅黑"/>
                <a:ea typeface="微软雅黑"/>
              </a:rPr>
              <a:t>, 2024, 44(3): 1068-1082.</a:t>
            </a: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盛昭瀚</a:t>
            </a:r>
            <a:r>
              <a:rPr sz="900" b="0" dirty="0">
                <a:solidFill>
                  <a:srgbClr val="1A1A1A"/>
                </a:solidFill>
                <a:latin typeface="微软雅黑"/>
                <a:ea typeface="微软雅黑"/>
              </a:rPr>
              <a:t>, </a:t>
            </a:r>
            <a:r>
              <a:rPr sz="900" b="0" dirty="0" err="1">
                <a:solidFill>
                  <a:srgbClr val="1A1A1A"/>
                </a:solidFill>
                <a:latin typeface="微软雅黑"/>
                <a:ea typeface="微软雅黑"/>
              </a:rPr>
              <a:t>王海燕</a:t>
            </a:r>
            <a:r>
              <a:rPr sz="900" b="0" dirty="0">
                <a:solidFill>
                  <a:srgbClr val="1A1A1A"/>
                </a:solidFill>
                <a:latin typeface="微软雅黑"/>
                <a:ea typeface="微软雅黑"/>
              </a:rPr>
              <a:t>, </a:t>
            </a:r>
            <a:r>
              <a:rPr sz="900" b="0" dirty="0" err="1">
                <a:solidFill>
                  <a:srgbClr val="1A1A1A"/>
                </a:solidFill>
                <a:latin typeface="微软雅黑"/>
                <a:ea typeface="微软雅黑"/>
              </a:rPr>
              <a:t>胡志华</a:t>
            </a:r>
            <a:r>
              <a:rPr sz="900" b="0" dirty="0">
                <a:solidFill>
                  <a:srgbClr val="1A1A1A"/>
                </a:solidFill>
                <a:latin typeface="微软雅黑"/>
                <a:ea typeface="微软雅黑"/>
              </a:rPr>
              <a:t>. </a:t>
            </a:r>
            <a:r>
              <a:rPr sz="900" b="0" dirty="0" err="1">
                <a:solidFill>
                  <a:srgbClr val="1A1A1A"/>
                </a:solidFill>
                <a:latin typeface="微软雅黑"/>
                <a:ea typeface="微软雅黑"/>
              </a:rPr>
              <a:t>供应链韧性：适应复杂性</a:t>
            </a:r>
            <a:r>
              <a:rPr sz="900" b="0" dirty="0">
                <a:solidFill>
                  <a:srgbClr val="1A1A1A"/>
                </a:solidFill>
                <a:latin typeface="微软雅黑"/>
                <a:ea typeface="微软雅黑"/>
              </a:rPr>
              <a:t>——</a:t>
            </a:r>
            <a:r>
              <a:rPr sz="900" b="0" dirty="0" err="1">
                <a:solidFill>
                  <a:srgbClr val="1A1A1A"/>
                </a:solidFill>
                <a:latin typeface="微软雅黑"/>
                <a:ea typeface="微软雅黑"/>
              </a:rPr>
              <a:t>基于复杂系统管理视角</a:t>
            </a:r>
            <a:r>
              <a:rPr sz="900" b="0" dirty="0">
                <a:solidFill>
                  <a:srgbClr val="1A1A1A"/>
                </a:solidFill>
                <a:latin typeface="微软雅黑"/>
                <a:ea typeface="微软雅黑"/>
              </a:rPr>
              <a:t>[J]. </a:t>
            </a:r>
            <a:r>
              <a:rPr sz="900" b="0" dirty="0" err="1">
                <a:solidFill>
                  <a:srgbClr val="1A1A1A"/>
                </a:solidFill>
                <a:latin typeface="微软雅黑"/>
                <a:ea typeface="微软雅黑"/>
              </a:rPr>
              <a:t>中国管理科学</a:t>
            </a:r>
            <a:r>
              <a:rPr sz="900" b="0" dirty="0">
                <a:solidFill>
                  <a:srgbClr val="1A1A1A"/>
                </a:solidFill>
                <a:latin typeface="微软雅黑"/>
                <a:ea typeface="微软雅黑"/>
              </a:rPr>
              <a:t>, 2022, 30(11): 1-7.</a:t>
            </a:r>
          </a:p>
        </p:txBody>
      </p:sp>
      <p:sp>
        <p:nvSpPr>
          <p:cNvPr id="7" name="TextBox 6"/>
          <p:cNvSpPr txBox="1"/>
          <p:nvPr/>
        </p:nvSpPr>
        <p:spPr>
          <a:xfrm>
            <a:off x="8092440" y="1371600"/>
            <a:ext cx="3611880" cy="5349240"/>
          </a:xfrm>
          <a:prstGeom prst="rect">
            <a:avLst/>
          </a:prstGeom>
          <a:noFill/>
        </p:spPr>
        <p:txBody>
          <a:bodyPr wrap="square">
            <a:spAutoFit/>
          </a:bodyPr>
          <a:lstStyle/>
          <a:p>
            <a:pPr>
              <a:spcAft>
                <a:spcPts val="600"/>
              </a:spcAft>
            </a:pPr>
            <a:r>
              <a:rPr sz="1300" b="1" dirty="0" err="1">
                <a:solidFill>
                  <a:srgbClr val="1F2D50"/>
                </a:solidFill>
                <a:latin typeface="微软雅黑"/>
                <a:ea typeface="微软雅黑"/>
              </a:rPr>
              <a:t>随机良率库存理论</a:t>
            </a:r>
            <a:endParaRPr sz="1300" b="1" dirty="0">
              <a:solidFill>
                <a:srgbClr val="1F2D50"/>
              </a:solidFill>
              <a:latin typeface="微软雅黑"/>
              <a:ea typeface="微软雅黑"/>
            </a:endParaRPr>
          </a:p>
          <a:p>
            <a:pPr>
              <a:lnSpc>
                <a:spcPct val="108000"/>
              </a:lnSpc>
              <a:spcAft>
                <a:spcPts val="500"/>
              </a:spcAft>
            </a:pPr>
            <a:r>
              <a:rPr sz="900" b="0" dirty="0">
                <a:solidFill>
                  <a:srgbClr val="1A1A1A"/>
                </a:solidFill>
                <a:latin typeface="微软雅黑"/>
                <a:ea typeface="微软雅黑"/>
              </a:rPr>
              <a:t>· Henig M, Gerchak Y. The structure of periodic review policies in the presence of random yield[J]. Operations Research, 1990, 38(4): 634-643.</a:t>
            </a: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Bollapragada</a:t>
            </a:r>
            <a:r>
              <a:rPr sz="900" b="0" dirty="0">
                <a:solidFill>
                  <a:srgbClr val="1A1A1A"/>
                </a:solidFill>
                <a:latin typeface="微软雅黑"/>
                <a:ea typeface="微软雅黑"/>
              </a:rPr>
              <a:t> S, Morton T E. Myopic heuristics for the random yield problem[J]. Operations Research, 1999, 47(5): 713-722.</a:t>
            </a:r>
          </a:p>
          <a:p>
            <a:pPr>
              <a:lnSpc>
                <a:spcPct val="108000"/>
              </a:lnSpc>
              <a:spcAft>
                <a:spcPts val="500"/>
              </a:spcAft>
            </a:pPr>
            <a:r>
              <a:rPr sz="900" b="0" dirty="0">
                <a:solidFill>
                  <a:srgbClr val="1A1A1A"/>
                </a:solidFill>
                <a:latin typeface="微软雅黑"/>
                <a:ea typeface="微软雅黑"/>
              </a:rPr>
              <a:t>· Li Q, Xu H, Zheng S. Periodic-review inventory systems with random yield and demand: Bounds and heuristics[J]. IIE Transactions, 2008, 40(4): 434-444.</a:t>
            </a:r>
          </a:p>
          <a:p>
            <a:pPr>
              <a:lnSpc>
                <a:spcPct val="108000"/>
              </a:lnSpc>
              <a:spcAft>
                <a:spcPts val="500"/>
              </a:spcAft>
            </a:pPr>
            <a:r>
              <a:rPr sz="900" b="0" dirty="0">
                <a:solidFill>
                  <a:srgbClr val="1A1A1A"/>
                </a:solidFill>
                <a:latin typeface="微软雅黑"/>
                <a:ea typeface="微软雅黑"/>
              </a:rPr>
              <a:t>· Huh W T, Nagarajan M. Linear inflation rules for the random yield problem: Analysis and computations[J]. Operations Research, 2010, 58(1): 244-251.</a:t>
            </a: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Inderfurth</a:t>
            </a:r>
            <a:r>
              <a:rPr sz="900" b="0" dirty="0">
                <a:solidFill>
                  <a:srgbClr val="1A1A1A"/>
                </a:solidFill>
                <a:latin typeface="微软雅黑"/>
                <a:ea typeface="微软雅黑"/>
              </a:rPr>
              <a:t> K. How to protect against demand and yield risks in MRP systems[J]. Int. J. Production Economics, 2009, 121(2): 474-481.</a:t>
            </a: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Inderfurth</a:t>
            </a:r>
            <a:r>
              <a:rPr sz="900" b="0" dirty="0">
                <a:solidFill>
                  <a:srgbClr val="1A1A1A"/>
                </a:solidFill>
                <a:latin typeface="微软雅黑"/>
                <a:ea typeface="微软雅黑"/>
              </a:rPr>
              <a:t> K, </a:t>
            </a:r>
            <a:r>
              <a:rPr sz="900" b="0" dirty="0" err="1">
                <a:solidFill>
                  <a:srgbClr val="1A1A1A"/>
                </a:solidFill>
                <a:latin typeface="微软雅黑"/>
                <a:ea typeface="微软雅黑"/>
              </a:rPr>
              <a:t>Kiesmüller</a:t>
            </a:r>
            <a:r>
              <a:rPr sz="900" b="0" dirty="0">
                <a:solidFill>
                  <a:srgbClr val="1A1A1A"/>
                </a:solidFill>
                <a:latin typeface="微软雅黑"/>
                <a:ea typeface="微软雅黑"/>
              </a:rPr>
              <a:t> G P. Exact and heuristic linear-inflation policies for an inventory model with random yield and arbitrary lead times[J]. EJOR, 2015, 245(1): 109-120.</a:t>
            </a:r>
          </a:p>
          <a:p>
            <a:pPr>
              <a:lnSpc>
                <a:spcPct val="108000"/>
              </a:lnSpc>
              <a:spcAft>
                <a:spcPts val="500"/>
              </a:spcAft>
            </a:pPr>
            <a:r>
              <a:rPr sz="900" b="0" dirty="0">
                <a:solidFill>
                  <a:srgbClr val="1A1A1A"/>
                </a:solidFill>
                <a:latin typeface="微软雅黑"/>
                <a:ea typeface="微软雅黑"/>
              </a:rPr>
              <a:t>· Chen F Y, Hu F, Yano C A, Yuan Q. Heuristics and bounds for an inventory system with an all-or-nothing yield pattern and lead-times[C]. 2018 IEEE SOLI, 2018: 180-184.</a:t>
            </a:r>
          </a:p>
          <a:p>
            <a:pPr>
              <a:lnSpc>
                <a:spcPct val="108000"/>
              </a:lnSpc>
              <a:spcAft>
                <a:spcPts val="500"/>
              </a:spcAft>
            </a:pPr>
            <a:r>
              <a:rPr sz="900" b="0" dirty="0">
                <a:solidFill>
                  <a:srgbClr val="1A1A1A"/>
                </a:solidFill>
                <a:latin typeface="微软雅黑"/>
                <a:ea typeface="微软雅黑"/>
              </a:rPr>
              <a:t>· Yan Y, Chen F Y, Fu Z, Bi W. Heuristics and deep reinforcement learning for the inventory problem with an all-or-nothing yield pattern and non-zero </a:t>
            </a:r>
            <a:r>
              <a:rPr sz="900" b="0" dirty="0" err="1">
                <a:solidFill>
                  <a:srgbClr val="1A1A1A"/>
                </a:solidFill>
                <a:latin typeface="微软雅黑"/>
                <a:ea typeface="微软雅黑"/>
              </a:rPr>
              <a:t>leadtimes</a:t>
            </a:r>
            <a:r>
              <a:rPr sz="900" b="0" dirty="0">
                <a:solidFill>
                  <a:srgbClr val="1A1A1A"/>
                </a:solidFill>
                <a:latin typeface="微软雅黑"/>
                <a:ea typeface="微软雅黑"/>
              </a:rPr>
              <a:t>[J]. Computers &amp; Operations Research, 2026, 186: 107305.</a:t>
            </a:r>
          </a:p>
          <a:p>
            <a:pPr>
              <a:lnSpc>
                <a:spcPct val="108000"/>
              </a:lnSpc>
              <a:spcAft>
                <a:spcPts val="500"/>
              </a:spcAft>
            </a:pPr>
            <a:r>
              <a:rPr sz="900" b="0" dirty="0">
                <a:solidFill>
                  <a:srgbClr val="1A1A1A"/>
                </a:solidFill>
                <a:latin typeface="微软雅黑"/>
                <a:ea typeface="微软雅黑"/>
              </a:rPr>
              <a:t>· Li X. Optimal procurement strategies from suppliers with random yield and all-or-nothing risks[J]. Annals of Operations Research, 2017, 257: 167-181.</a:t>
            </a:r>
          </a:p>
          <a:p>
            <a:pPr>
              <a:lnSpc>
                <a:spcPct val="108000"/>
              </a:lnSpc>
              <a:spcAft>
                <a:spcPts val="500"/>
              </a:spcAft>
            </a:pPr>
            <a:r>
              <a:rPr sz="900" b="0" dirty="0">
                <a:solidFill>
                  <a:srgbClr val="1A1A1A"/>
                </a:solidFill>
                <a:latin typeface="微软雅黑"/>
                <a:ea typeface="微软雅黑"/>
              </a:rPr>
              <a:t>· </a:t>
            </a:r>
            <a:r>
              <a:rPr sz="900" b="0" dirty="0" err="1">
                <a:solidFill>
                  <a:srgbClr val="1A1A1A"/>
                </a:solidFill>
                <a:latin typeface="微软雅黑"/>
                <a:ea typeface="微软雅黑"/>
              </a:rPr>
              <a:t>张菊亮</a:t>
            </a:r>
            <a:r>
              <a:rPr sz="900" b="0" dirty="0">
                <a:solidFill>
                  <a:srgbClr val="1A1A1A"/>
                </a:solidFill>
                <a:latin typeface="微软雅黑"/>
                <a:ea typeface="微软雅黑"/>
              </a:rPr>
              <a:t>, </a:t>
            </a:r>
            <a:r>
              <a:rPr sz="900" b="0" dirty="0" err="1">
                <a:solidFill>
                  <a:srgbClr val="1A1A1A"/>
                </a:solidFill>
                <a:latin typeface="微软雅黑"/>
                <a:ea typeface="微软雅黑"/>
              </a:rPr>
              <a:t>章祥荪</a:t>
            </a:r>
            <a:r>
              <a:rPr sz="900" b="0" dirty="0">
                <a:solidFill>
                  <a:srgbClr val="1A1A1A"/>
                </a:solidFill>
                <a:latin typeface="微软雅黑"/>
                <a:ea typeface="微软雅黑"/>
              </a:rPr>
              <a:t>, </a:t>
            </a:r>
            <a:r>
              <a:rPr sz="900" b="0" dirty="0" err="1">
                <a:solidFill>
                  <a:srgbClr val="1A1A1A"/>
                </a:solidFill>
                <a:latin typeface="微软雅黑"/>
                <a:ea typeface="微软雅黑"/>
              </a:rPr>
              <a:t>王耀球</a:t>
            </a:r>
            <a:r>
              <a:rPr sz="900" b="0" dirty="0">
                <a:solidFill>
                  <a:srgbClr val="1A1A1A"/>
                </a:solidFill>
                <a:latin typeface="微软雅黑"/>
                <a:ea typeface="微软雅黑"/>
              </a:rPr>
              <a:t>. </a:t>
            </a:r>
            <a:r>
              <a:rPr sz="900" b="0" dirty="0" err="1">
                <a:solidFill>
                  <a:srgbClr val="1A1A1A"/>
                </a:solidFill>
                <a:latin typeface="微软雅黑"/>
                <a:ea typeface="微软雅黑"/>
              </a:rPr>
              <a:t>一般需求函数下报童模型的定价与库存控制</a:t>
            </a:r>
            <a:r>
              <a:rPr sz="900" b="0" dirty="0">
                <a:solidFill>
                  <a:srgbClr val="1A1A1A"/>
                </a:solidFill>
                <a:latin typeface="微软雅黑"/>
                <a:ea typeface="微软雅黑"/>
              </a:rPr>
              <a:t>[J]. </a:t>
            </a:r>
            <a:r>
              <a:rPr sz="900" b="0" dirty="0" err="1">
                <a:solidFill>
                  <a:srgbClr val="1A1A1A"/>
                </a:solidFill>
                <a:latin typeface="微软雅黑"/>
                <a:ea typeface="微软雅黑"/>
              </a:rPr>
              <a:t>系统工程理论与实践</a:t>
            </a:r>
            <a:r>
              <a:rPr sz="900" b="0" dirty="0">
                <a:solidFill>
                  <a:srgbClr val="1A1A1A"/>
                </a:solidFill>
                <a:latin typeface="微软雅黑"/>
                <a:ea typeface="微软雅黑"/>
              </a:rPr>
              <a:t>, 2008, (9): 20-28.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105</TotalTime>
  <Words>3049</Words>
  <Application>Microsoft Office PowerPoint</Application>
  <PresentationFormat>Widescreen</PresentationFormat>
  <Paragraphs>119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微软雅黑</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Li, Zicheng</cp:lastModifiedBy>
  <cp:revision>5</cp:revision>
  <dcterms:created xsi:type="dcterms:W3CDTF">2013-01-27T09:14:16Z</dcterms:created>
  <dcterms:modified xsi:type="dcterms:W3CDTF">2026-10-21T08:20:07Z</dcterms:modified>
  <cp:category/>
</cp:coreProperties>
</file>